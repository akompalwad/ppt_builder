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61000">
                <a:srgbClr val="070E17"/>
              </a:gs>
              <a:gs pos="100000">
                <a:srgbClr val="06292C"/>
              </a:gs>
            </a:gsLst>
            <a:lin ang="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gradFill rotWithShape="1">
            <a:gsLst>
              <a:gs pos="0">
                <a:srgbClr val="054E47"/>
              </a:gs>
              <a:gs pos="100000">
                <a:srgbClr val="07141B"/>
              </a:gs>
            </a:gsLst>
            <a:lin ang="18900000" scaled="1"/>
          </a:gradFill>
          <a:xfrm>
            <a:off x="8183879" y="960120"/>
            <a:ext cx="2788920" cy="2788920"/>
          </a:xfrm>
          <a:prstGeom prst="ellipse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C3"/>
                </a:solidFill>
                <a:latin typeface="Arial"/>
              </a:defRPr>
            </a:pPr>
            <a:r>
              <a:t>SLIDEWEAVER /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481328"/>
            <a:ext cx="69951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400" b="1">
                <a:solidFill>
                  <a:srgbClr val="FFE600"/>
                </a:solidFill>
                <a:latin typeface="Arial"/>
              </a:defRPr>
            </a:pPr>
            <a:r>
              <a:t>Enterprise Agentic AI Platform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4187952"/>
            <a:ext cx="6583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B7C6D5"/>
                </a:solidFill>
                <a:latin typeface="Arial"/>
              </a:defRPr>
            </a:pPr>
            <a:r>
              <a:t>Executive posture review covering threat exposure, response readiness, and zero-trust control maturity.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42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Business problem</a:t>
            </a:r>
          </a:p>
        </p:txBody>
      </p:sp>
      <p:sp>
        <p:nvSpPr>
          <p:cNvPr id="4" name="Oval 3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2020824"/>
            <a:ext cx="5291175" cy="1703832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4944" y="1938528"/>
            <a:ext cx="5291175" cy="1703832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2139696"/>
            <a:ext cx="347472" cy="347472"/>
          </a:xfrm>
          <a:prstGeom prst="round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03704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2139696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F4F8FB"/>
                </a:solidFill>
                <a:latin typeface="Arial"/>
              </a:defRPr>
            </a:pPr>
            <a:r>
              <a:t>Fragmented enterprise 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532888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B7C6D5"/>
                </a:solidFill>
                <a:latin typeface="Arial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6269583" y="2020824"/>
            <a:ext cx="5291175" cy="1703832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05575" y="1938528"/>
            <a:ext cx="5291175" cy="1703832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6743" y="2139696"/>
            <a:ext cx="347472" cy="347472"/>
          </a:xfrm>
          <a:prstGeom prst="round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6743" y="2203704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8807" y="2139696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F4F8FB"/>
                </a:solidFill>
                <a:latin typeface="Arial"/>
              </a:defRPr>
            </a:pPr>
            <a:r>
              <a:t>Manual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8807" y="2532888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B7C6D5"/>
                </a:solidFill>
                <a:latin typeface="Arial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758952" y="3944112"/>
            <a:ext cx="5291175" cy="1703832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3861816"/>
            <a:ext cx="5291175" cy="1703832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" y="4062984"/>
            <a:ext cx="347472" cy="347472"/>
          </a:xfrm>
          <a:prstGeom prst="round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126992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4062984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F4F8FB"/>
                </a:solidFill>
                <a:latin typeface="Arial"/>
              </a:defRPr>
            </a:pPr>
            <a:r>
              <a:t>Slow decision-making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456176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B7C6D5"/>
                </a:solidFill>
                <a:latin typeface="Arial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6269583" y="3944112"/>
            <a:ext cx="5291175" cy="1703832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05575" y="3861816"/>
            <a:ext cx="5291175" cy="1703832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6743" y="4062984"/>
            <a:ext cx="347472" cy="347472"/>
          </a:xfrm>
          <a:prstGeom prst="round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6743" y="4126992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8807" y="4062984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F4F8FB"/>
                </a:solidFill>
                <a:latin typeface="Arial"/>
              </a:defRPr>
            </a:pPr>
            <a:r>
              <a:t>Hallucination risks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8807" y="4456176"/>
            <a:ext cx="4358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B7C6D5"/>
                </a:solidFill>
                <a:latin typeface="Arial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42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42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42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64000">
                <a:srgbClr val="070E17"/>
              </a:gs>
              <a:gs pos="100000">
                <a:srgbClr val="062326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Enterprise agentic AI platform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147718" y="2670048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33664" y="2670048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409901" y="3694175"/>
            <a:ext cx="7371893" cy="182881"/>
          </a:xfrm>
          <a:prstGeom prst="bentConnector3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47718" y="4901183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33664" y="4901183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58952" y="1746504"/>
            <a:ext cx="3429914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4944" y="1664208"/>
            <a:ext cx="3429914" cy="2011679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181051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191475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267712"/>
            <a:ext cx="317388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798064"/>
            <a:ext cx="3137306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4898" y="1746504"/>
            <a:ext cx="3429914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0890" y="1664208"/>
            <a:ext cx="3429914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7194" y="181051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7194" y="191475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2267712"/>
            <a:ext cx="317388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AI 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7194" y="2798064"/>
            <a:ext cx="3137306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0844" y="1746504"/>
            <a:ext cx="3429914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66836" y="1664208"/>
            <a:ext cx="3429914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13140" y="181051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3140" y="191475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4852" y="2267712"/>
            <a:ext cx="317388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Agent orchestration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3140" y="2798064"/>
            <a:ext cx="3137306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" y="3977639"/>
            <a:ext cx="3429914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3895344"/>
            <a:ext cx="3429914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1248" y="4041648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14588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498848"/>
            <a:ext cx="317388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RAG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029200"/>
            <a:ext cx="3137306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4898" y="3977639"/>
            <a:ext cx="3429914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80890" y="3895344"/>
            <a:ext cx="3429914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27194" y="4041648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7194" y="414588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8906" y="4498848"/>
            <a:ext cx="317388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7194" y="5029200"/>
            <a:ext cx="3137306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0844" y="3977639"/>
            <a:ext cx="3429914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066836" y="3895344"/>
            <a:ext cx="3429914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213140" y="4041648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3140" y="414588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4852" y="4498848"/>
            <a:ext cx="317388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Enterprise systems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3140" y="5029200"/>
            <a:ext cx="3137306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8" dur="42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9" dur="42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2" dur="42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3" dur="42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6" dur="42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7" dur="420" fill="hold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64000">
                <a:srgbClr val="070E17"/>
              </a:gs>
              <a:gs pos="100000">
                <a:srgbClr val="062326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RAG pipeline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746491" y="2670048"/>
            <a:ext cx="11887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939771" y="2670048"/>
            <a:ext cx="11887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133051" y="2670048"/>
            <a:ext cx="11887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326331" y="2670048"/>
            <a:ext cx="11887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709287" y="3694175"/>
            <a:ext cx="8773120" cy="182881"/>
          </a:xfrm>
          <a:prstGeom prst="bentConnector3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6491" y="4901183"/>
            <a:ext cx="11887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939771" y="4901183"/>
            <a:ext cx="11887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133051" y="4901183"/>
            <a:ext cx="11887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8952" y="1746504"/>
            <a:ext cx="2028687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4944" y="1664208"/>
            <a:ext cx="2028687" cy="2011679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" y="181051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191475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267712"/>
            <a:ext cx="177265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ingestion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798064"/>
            <a:ext cx="1736079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Collect source documents and records from approved enterprise systems.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52231" y="1746504"/>
            <a:ext cx="2028687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88223" y="1664208"/>
            <a:ext cx="2028687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034527" y="181051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34527" y="191475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6239" y="2267712"/>
            <a:ext cx="177265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document 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34527" y="2798064"/>
            <a:ext cx="1736079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Clean, normalize, and extract usable text and metadata.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45511" y="1746504"/>
            <a:ext cx="2028687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81503" y="1664208"/>
            <a:ext cx="2028687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27807" y="181051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27807" y="191475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09519" y="2267712"/>
            <a:ext cx="177265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chunking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27807" y="2798064"/>
            <a:ext cx="1736079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Split documents into retrieval-ready passages while retaining context.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38791" y="1746504"/>
            <a:ext cx="2028687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274783" y="1664208"/>
            <a:ext cx="2028687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421087" y="181051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21087" y="191475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2799" y="2267712"/>
            <a:ext cx="177265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embeddings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1087" y="2798064"/>
            <a:ext cx="1736079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Convert passages into semantic vectors for similarity search.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32071" y="1746504"/>
            <a:ext cx="2028687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68063" y="1664208"/>
            <a:ext cx="2028687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614367" y="181051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14367" y="191475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96079" y="2267712"/>
            <a:ext cx="177265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vector storage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14367" y="2798064"/>
            <a:ext cx="1736079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Index vectors and metadata for governed, low-latency retrieval.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8952" y="3977639"/>
            <a:ext cx="2028687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94944" y="3895344"/>
            <a:ext cx="2028687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1248" y="4041648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" y="414588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4498848"/>
            <a:ext cx="177265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retrieval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5029200"/>
            <a:ext cx="1736079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Select the most relevant evidence for the incoming request.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52231" y="3977639"/>
            <a:ext cx="2028687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888223" y="3895344"/>
            <a:ext cx="2028687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34527" y="4041648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34527" y="414588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16239" y="4498848"/>
            <a:ext cx="177265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reranking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34527" y="5029200"/>
            <a:ext cx="1736079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Prioritize retrieved evidence using relevance and policy signals.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145511" y="3977639"/>
            <a:ext cx="2028687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081503" y="3895344"/>
            <a:ext cx="2028687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227807" y="4041648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27807" y="414588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09519" y="4498848"/>
            <a:ext cx="177265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prompt construction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27807" y="5029200"/>
            <a:ext cx="1736079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Combine the request, instructions, and grounded context for the model.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38791" y="3977639"/>
            <a:ext cx="2028687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274783" y="3895344"/>
            <a:ext cx="2028687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421087" y="4041648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21087" y="414588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02799" y="4498848"/>
            <a:ext cx="177265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generation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21087" y="5029200"/>
            <a:ext cx="1736079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Produce a response grounded in approved retrieved evidence.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8" dur="42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9" dur="42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2" dur="420" fill="hold"/>
                                  <p:tgtEl>
                                    <p:spTgt spid="24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3" dur="42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6" dur="420" fill="hold"/>
                                  <p:tgtEl>
                                    <p:spTgt spid="30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7" dur="42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64000">
                <a:srgbClr val="070E17"/>
              </a:gs>
              <a:gs pos="100000">
                <a:srgbClr val="062326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Agentic workflow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147718" y="2670048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33664" y="2670048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409901" y="3694175"/>
            <a:ext cx="7371893" cy="182881"/>
          </a:xfrm>
          <a:prstGeom prst="bentConnector3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47718" y="4901183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33664" y="4901183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58952" y="1746504"/>
            <a:ext cx="3429914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4944" y="1664208"/>
            <a:ext cx="3429914" cy="2011679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181051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191475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267712"/>
            <a:ext cx="317388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planner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798064"/>
            <a:ext cx="3137306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4898" y="1746504"/>
            <a:ext cx="3429914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0890" y="1664208"/>
            <a:ext cx="3429914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7194" y="181051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7194" y="191475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2267712"/>
            <a:ext cx="317388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specialized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7194" y="2798064"/>
            <a:ext cx="3137306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0844" y="1746504"/>
            <a:ext cx="3429914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66836" y="1664208"/>
            <a:ext cx="3429914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13140" y="1810512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3140" y="191475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4852" y="2267712"/>
            <a:ext cx="317388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tool calling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3140" y="2798064"/>
            <a:ext cx="3137306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" y="3977639"/>
            <a:ext cx="3429914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3895344"/>
            <a:ext cx="3429914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1248" y="4041648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14588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498848"/>
            <a:ext cx="317388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029200"/>
            <a:ext cx="3137306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4898" y="3977639"/>
            <a:ext cx="3429914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80890" y="3895344"/>
            <a:ext cx="3429914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27194" y="4041648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7194" y="414588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8906" y="4498848"/>
            <a:ext cx="317388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7194" y="5029200"/>
            <a:ext cx="3137306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0844" y="3977639"/>
            <a:ext cx="3429914" cy="2011679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066836" y="3895344"/>
            <a:ext cx="3429914" cy="2011679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213140" y="4041648"/>
            <a:ext cx="347472" cy="347472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3140" y="414588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4852" y="4498848"/>
            <a:ext cx="317388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4F8FB"/>
                </a:solidFill>
                <a:latin typeface="Arial"/>
              </a:defRPr>
            </a:pPr>
            <a:r>
              <a:t>human approval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3140" y="5029200"/>
            <a:ext cx="3137306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8" dur="42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9" dur="42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2" dur="42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3" dur="42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6" dur="42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7" dur="420" fill="hold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100000">
                <a:srgbClr val="062025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Azure deployment architecture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089904" y="2782062"/>
            <a:ext cx="0" cy="128015"/>
          </a:xfrm>
          <a:prstGeom prst="line">
            <a:avLst/>
          </a:prstGeom>
          <a:ln w="1587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9904" y="3863339"/>
            <a:ext cx="0" cy="128017"/>
          </a:xfrm>
          <a:prstGeom prst="line">
            <a:avLst/>
          </a:prstGeom>
          <a:ln w="1587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89904" y="4944617"/>
            <a:ext cx="0" cy="128016"/>
          </a:xfrm>
          <a:prstGeom prst="line">
            <a:avLst/>
          </a:prstGeom>
          <a:ln w="1587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58952" y="1929384"/>
            <a:ext cx="10789920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" y="1847088"/>
            <a:ext cx="10789920" cy="916686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01168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API and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313432"/>
            <a:ext cx="102047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API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450592"/>
            <a:ext cx="102047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App Services / AKS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" y="3010661"/>
            <a:ext cx="10277856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0976" y="2928365"/>
            <a:ext cx="10277856" cy="91668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25296" y="3092958"/>
            <a:ext cx="9729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Integration and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394709"/>
            <a:ext cx="9692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Azure Functions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3531869"/>
            <a:ext cx="9692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Service Bus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71016" y="4091939"/>
            <a:ext cx="9765792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07008" y="4009644"/>
            <a:ext cx="9765792" cy="91668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81328" y="4174235"/>
            <a:ext cx="9217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Data and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4475988"/>
            <a:ext cx="918057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Blob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4613148"/>
            <a:ext cx="918057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Azure AI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4750307"/>
            <a:ext cx="918057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Azure OpenAI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27048" y="5173217"/>
            <a:ext cx="9253728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463040" y="5090921"/>
            <a:ext cx="9253728" cy="91668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37360" y="5255513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Security and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5648" y="5557265"/>
            <a:ext cx="86685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Key Vault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5694425"/>
            <a:ext cx="86685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Application Insights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8" dur="42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1" dur="42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4" dur="42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100000">
                <a:srgbClr val="062025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Security architecture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089904" y="2782062"/>
            <a:ext cx="0" cy="128015"/>
          </a:xfrm>
          <a:prstGeom prst="line">
            <a:avLst/>
          </a:prstGeom>
          <a:ln w="1587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9904" y="3863339"/>
            <a:ext cx="0" cy="128017"/>
          </a:xfrm>
          <a:prstGeom prst="line">
            <a:avLst/>
          </a:prstGeom>
          <a:ln w="1587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89904" y="4944617"/>
            <a:ext cx="0" cy="128016"/>
          </a:xfrm>
          <a:prstGeom prst="line">
            <a:avLst/>
          </a:prstGeom>
          <a:ln w="1587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58952" y="1929384"/>
            <a:ext cx="10789920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" y="1847088"/>
            <a:ext cx="10789920" cy="916686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01168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Identity and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313432"/>
            <a:ext cx="102047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Managed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450592"/>
            <a:ext cx="102047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RBAC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" y="3010661"/>
            <a:ext cx="10277856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0976" y="2928365"/>
            <a:ext cx="10277856" cy="91668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25296" y="3092958"/>
            <a:ext cx="9729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Network and secrets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394709"/>
            <a:ext cx="9692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Network isolation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3531869"/>
            <a:ext cx="9692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Secrets management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71016" y="4091939"/>
            <a:ext cx="9765792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07008" y="4009644"/>
            <a:ext cx="9765792" cy="91668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81328" y="4174235"/>
            <a:ext cx="9217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AI 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4475988"/>
            <a:ext cx="918057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PII protection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4613148"/>
            <a:ext cx="918057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Prompt injection protection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27048" y="5173217"/>
            <a:ext cx="9253728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463040" y="5090921"/>
            <a:ext cx="9253728" cy="91668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5255513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55648" y="5557265"/>
            <a:ext cx="86685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Audit logging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8" dur="42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1" dur="42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4" dur="42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100000">
                <a:srgbClr val="062025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Scalability and reliability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089904" y="2782062"/>
            <a:ext cx="0" cy="128015"/>
          </a:xfrm>
          <a:prstGeom prst="line">
            <a:avLst/>
          </a:prstGeom>
          <a:ln w="1587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9904" y="3863339"/>
            <a:ext cx="0" cy="128017"/>
          </a:xfrm>
          <a:prstGeom prst="line">
            <a:avLst/>
          </a:prstGeom>
          <a:ln w="1587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89904" y="4944617"/>
            <a:ext cx="0" cy="128016"/>
          </a:xfrm>
          <a:prstGeom prst="line">
            <a:avLst/>
          </a:prstGeom>
          <a:ln w="1587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58952" y="1929384"/>
            <a:ext cx="10789920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" y="1847088"/>
            <a:ext cx="10789920" cy="916686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01168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Scale and workload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313432"/>
            <a:ext cx="102047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Horizontal 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450592"/>
            <a:ext cx="102047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Queues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" y="3010661"/>
            <a:ext cx="10277856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0976" y="2928365"/>
            <a:ext cx="10277856" cy="91668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25296" y="3092958"/>
            <a:ext cx="9729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394709"/>
            <a:ext cx="9692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Caching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71016" y="4091939"/>
            <a:ext cx="9765792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7008" y="4009644"/>
            <a:ext cx="9765792" cy="91668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81328" y="4174235"/>
            <a:ext cx="9217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Fault handling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475988"/>
            <a:ext cx="918057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Circuit breakers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4613148"/>
            <a:ext cx="918057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Retries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4750307"/>
            <a:ext cx="918057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Dead-letter queues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27048" y="5173217"/>
            <a:ext cx="9253728" cy="91668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463040" y="5090921"/>
            <a:ext cx="9253728" cy="916686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5255513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F2C3"/>
                </a:solidFill>
                <a:latin typeface="Arial"/>
              </a:defRPr>
            </a:pPr>
            <a:r>
              <a:t>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55648" y="5557265"/>
            <a:ext cx="86685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B7C6D5"/>
                </a:solidFill>
                <a:latin typeface="Arial"/>
              </a:defRPr>
            </a:pPr>
            <a:r>
              <a:t>• Observability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8" dur="42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1" dur="42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4" dur="42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Cost optimization</a:t>
            </a:r>
          </a:p>
        </p:txBody>
      </p:sp>
      <p:sp>
        <p:nvSpPr>
          <p:cNvPr id="4" name="Oval 3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" y="1627632"/>
          <a:ext cx="10801806" cy="4315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602"/>
                <a:gridCol w="3600602"/>
                <a:gridCol w="3600602"/>
              </a:tblGrid>
              <a:tr h="566928"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70E17"/>
                          </a:solidFill>
                          <a:latin typeface="Arial"/>
                        </a:defRPr>
                      </a:pPr>
                      <a:r>
                        <a:t>Infrastructure component</a:t>
                      </a:r>
                    </a:p>
                  </a:txBody>
                  <a:tcPr>
                    <a:solidFill>
                      <a:srgbClr val="00F2C3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70E17"/>
                          </a:solidFill>
                          <a:latin typeface="Arial"/>
                        </a:defRPr>
                      </a:pPr>
                      <a:r>
                        <a:t>Primary cost driver</a:t>
                      </a:r>
                    </a:p>
                  </a:txBody>
                  <a:tcPr>
                    <a:solidFill>
                      <a:srgbClr val="00F2C3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70E17"/>
                          </a:solidFill>
                          <a:latin typeface="Arial"/>
                        </a:defRPr>
                      </a:pPr>
                      <a:r>
                        <a:t>Optimization strategy</a:t>
                      </a:r>
                    </a:p>
                  </a:txBody>
                  <a:tcPr>
                    <a:solidFill>
                      <a:srgbClr val="00F2C3"/>
                    </a:solidFill>
                  </a:tcPr>
                </a:tc>
              </a:tr>
              <a:tr h="937259"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LLM inference</a:t>
                      </a:r>
                    </a:p>
                  </a:txBody>
                  <a:tcPr>
                    <a:solidFill>
                      <a:srgbClr val="152636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Token volume and model selection</a:t>
                      </a:r>
                    </a:p>
                  </a:txBody>
                  <a:tcPr>
                    <a:solidFill>
                      <a:srgbClr val="152636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Route simple tasks to smaller models and enforce token budgets</a:t>
                      </a:r>
                    </a:p>
                  </a:txBody>
                  <a:tcPr>
                    <a:solidFill>
                      <a:srgbClr val="152636"/>
                    </a:solidFill>
                  </a:tcPr>
                </a:tc>
              </a:tr>
              <a:tr h="937259"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Compute</a:t>
                      </a:r>
                    </a:p>
                  </a:txBody>
                  <a:tcPr>
                    <a:solidFill>
                      <a:srgbClr val="102131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Always-on application capacity</a:t>
                      </a:r>
                    </a:p>
                  </a:txBody>
                  <a:tcPr>
                    <a:solidFill>
                      <a:srgbClr val="102131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Autoscale workloads and use queue-driven workers</a:t>
                      </a:r>
                    </a:p>
                  </a:txBody>
                  <a:tcPr>
                    <a:solidFill>
                      <a:srgbClr val="102131"/>
                    </a:solidFill>
                  </a:tcPr>
                </a:tc>
              </a:tr>
              <a:tr h="937259"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Vector search</a:t>
                      </a:r>
                    </a:p>
                  </a:txBody>
                  <a:tcPr>
                    <a:solidFill>
                      <a:srgbClr val="152636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Index size and query volume</a:t>
                      </a:r>
                    </a:p>
                  </a:txBody>
                  <a:tcPr>
                    <a:solidFill>
                      <a:srgbClr val="152636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Apply lifecycle policies and retrieve only relevant partitions</a:t>
                      </a:r>
                    </a:p>
                  </a:txBody>
                  <a:tcPr>
                    <a:solidFill>
                      <a:srgbClr val="152636"/>
                    </a:solidFill>
                  </a:tcPr>
                </a:tc>
              </a:tr>
              <a:tr h="937259"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Storage and observability</a:t>
                      </a:r>
                    </a:p>
                  </a:txBody>
                  <a:tcPr>
                    <a:solidFill>
                      <a:srgbClr val="102131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Retention of documents and telemetry</a:t>
                      </a:r>
                    </a:p>
                  </a:txBody>
                  <a:tcPr>
                    <a:solidFill>
                      <a:srgbClr val="102131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4F8FB"/>
                          </a:solidFill>
                          <a:latin typeface="Arial"/>
                        </a:defRPr>
                      </a:pPr>
                      <a:r>
                        <a:t>Tier cold data and set retention limits</a:t>
                      </a:r>
                    </a:p>
                  </a:txBody>
                  <a:tcPr>
                    <a:solidFill>
                      <a:srgbClr val="10213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70E17"/>
              </a:gs>
              <a:gs pos="64000">
                <a:srgbClr val="070E17"/>
              </a:gs>
              <a:gs pos="100000">
                <a:srgbClr val="062326"/>
              </a:gs>
            </a:gsLst>
            <a:lin ang="27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7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E600"/>
                </a:solidFill>
                <a:latin typeface="Arial"/>
              </a:defRPr>
            </a:pPr>
            <a:r>
              <a:t>Implementation roadmap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7D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26231" y="3739896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90691" y="3739896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55151" y="3739896"/>
            <a:ext cx="210312" cy="0"/>
          </a:xfrm>
          <a:prstGeom prst="line">
            <a:avLst/>
          </a:prstGeom>
          <a:ln w="17145">
            <a:solidFill>
              <a:srgbClr val="00F2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58952" y="2075688"/>
            <a:ext cx="250842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" y="1993392"/>
            <a:ext cx="2508427" cy="3493008"/>
          </a:xfrm>
          <a:prstGeom prst="roundRect">
            <a:avLst/>
          </a:prstGeom>
          <a:solidFill>
            <a:srgbClr val="182939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2139696"/>
            <a:ext cx="420624" cy="420624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62072"/>
            <a:ext cx="225239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000" b="1">
                <a:solidFill>
                  <a:srgbClr val="F4F8FB"/>
                </a:solidFill>
                <a:latin typeface="Arial"/>
              </a:defRPr>
            </a:pPr>
            <a:r>
              <a:t>MVP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721608"/>
            <a:ext cx="2215819" cy="1618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3411" y="2075688"/>
            <a:ext cx="250842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59403" y="1993392"/>
            <a:ext cx="2508427" cy="3493008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05707" y="2139696"/>
            <a:ext cx="420624" cy="420624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5707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7419" y="2862072"/>
            <a:ext cx="225239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900" b="1">
                <a:solidFill>
                  <a:srgbClr val="F4F8FB"/>
                </a:solidFill>
                <a:latin typeface="Arial"/>
              </a:defRPr>
            </a:pPr>
            <a:r>
              <a:t>production hardening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5707" y="3721608"/>
            <a:ext cx="2215819" cy="1618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7871" y="2075688"/>
            <a:ext cx="250842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23863" y="1993392"/>
            <a:ext cx="2508427" cy="3493008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70167" y="2139696"/>
            <a:ext cx="420624" cy="420624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0167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1879" y="2862072"/>
            <a:ext cx="225239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900" b="1">
                <a:solidFill>
                  <a:srgbClr val="F4F8FB"/>
                </a:solidFill>
                <a:latin typeface="Arial"/>
              </a:defRPr>
            </a:pPr>
            <a:r>
              <a:t>enterprise rollout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3721608"/>
            <a:ext cx="2215819" cy="1618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331" y="2075688"/>
            <a:ext cx="2508427" cy="349300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88323" y="1993392"/>
            <a:ext cx="2508427" cy="3493008"/>
          </a:xfrm>
          <a:prstGeom prst="roundRect">
            <a:avLst/>
          </a:prstGeom>
          <a:solidFill>
            <a:srgbClr val="102131"/>
          </a:solidFill>
          <a:ln>
            <a:solidFill>
              <a:srgbClr val="00D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34627" y="2139696"/>
            <a:ext cx="420624" cy="420624"/>
          </a:xfrm>
          <a:prstGeom prst="ellipse">
            <a:avLst/>
          </a:prstGeom>
          <a:solidFill>
            <a:srgbClr val="00F2C3"/>
          </a:solidFill>
          <a:ln>
            <a:solidFill>
              <a:srgbClr val="00F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34627" y="2265883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70E17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339" y="2862072"/>
            <a:ext cx="225239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900" b="1">
                <a:solidFill>
                  <a:srgbClr val="F4F8FB"/>
                </a:solidFill>
                <a:latin typeface="Arial"/>
              </a:defRPr>
            </a:pPr>
            <a:r>
              <a:t>autonomous-agent phase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627" y="3721608"/>
            <a:ext cx="2215819" cy="1618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B7C6D5"/>
                </a:solidFill>
                <a:latin typeface="Arial"/>
              </a:defRPr>
            </a:pPr>
            <a:r>
              <a:t>Supports the next controlled stage of the enterprise workflow.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7890A3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5" dur="42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8" dur="42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9" dur="42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2" dur="42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3" dur="420" fill="hold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6" dur="420" fill="hold"/>
                                  <p:tgtEl>
                                    <p:spTgt spid="25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7" dur="42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