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volume</c:v>
                </c:pt>
              </c:strCache>
            </c:strRef>
          </c:tx>
          <c:spPr>
            <a:solidFill>
              <a:srgbClr val="00A8FF"/>
            </a:solidFill>
            <a:ln>
              <a:solidFill>
                <a:srgbClr val="00A8FF"/>
              </a:solidFill>
            </a:ln>
          </c:spPr>
          <c:cat>
            <c:strRef>
              <c:f>Sheet1!$A$2:$A$13</c:f>
              <c:strCache>
                <c:ptCount val="12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  <c:pt idx="5">
                  <c:v>Period 6</c:v>
                </c:pt>
                <c:pt idx="6">
                  <c:v>Period 7</c:v>
                </c:pt>
                <c:pt idx="7">
                  <c:v>Period 8</c:v>
                </c:pt>
                <c:pt idx="8">
                  <c:v>Period 9</c:v>
                </c:pt>
                <c:pt idx="9">
                  <c:v>Period 10</c:v>
                </c:pt>
                <c:pt idx="10">
                  <c:v>Period 11</c:v>
                </c:pt>
                <c:pt idx="11">
                  <c:v>Period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1200.0</c:v>
                </c:pt>
                <c:pt idx="1">
                  <c:v>2409.09</c:v>
                </c:pt>
                <c:pt idx="2">
                  <c:v>3618.18</c:v>
                </c:pt>
                <c:pt idx="3">
                  <c:v>4827.27</c:v>
                </c:pt>
                <c:pt idx="4">
                  <c:v>6036.36</c:v>
                </c:pt>
                <c:pt idx="5">
                  <c:v>7245.45</c:v>
                </c:pt>
                <c:pt idx="6">
                  <c:v>8454.55</c:v>
                </c:pt>
                <c:pt idx="7">
                  <c:v>9663.64</c:v>
                </c:pt>
                <c:pt idx="8">
                  <c:v>10872.73</c:v>
                </c:pt>
                <c:pt idx="9">
                  <c:v>12081.82</c:v>
                </c:pt>
                <c:pt idx="10">
                  <c:v>13290.91</c:v>
                </c:pt>
                <c:pt idx="11">
                  <c:v>14500.0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B9C7D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B9C7D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(%)</c:v>
                </c:pt>
              </c:strCache>
            </c:strRef>
          </c:tx>
          <c:dPt>
            <c:idx val="0"/>
            <c:spPr>
              <a:solidFill>
                <a:srgbClr val="00A8FF"/>
              </a:solidFill>
              <a:ln>
                <a:solidFill>
                  <a:srgbClr val="00A8FF"/>
                </a:solidFill>
              </a:ln>
            </c:spPr>
          </c:dPt>
          <c:dPt>
            <c:idx val="1"/>
            <c:spPr>
              <a:solidFill>
                <a:srgbClr val="4FACFE"/>
              </a:solidFill>
              <a:ln>
                <a:solidFill>
                  <a:srgbClr val="4FACFE"/>
                </a:solidFill>
              </a:ln>
            </c:spPr>
          </c:dPt>
          <c:dPt>
            <c:idx val="2"/>
            <c:spPr>
              <a:solidFill>
                <a:srgbClr val="E63946"/>
              </a:solidFill>
              <a:ln>
                <a:solidFill>
                  <a:srgbClr val="E63946"/>
                </a:solidFill>
              </a:ln>
            </c:spPr>
          </c:dPt>
          <c:dPt>
            <c:idx val="3"/>
            <c:spPr>
              <a:solidFill>
                <a:srgbClr val="20D3A2"/>
              </a:solidFill>
              <a:ln>
                <a:solidFill>
                  <a:srgbClr val="20D3A2"/>
                </a:solidFill>
              </a:ln>
            </c:spPr>
          </c:dPt>
          <c:dPt>
            <c:idx val="4"/>
            <c:spPr>
              <a:solidFill>
                <a:srgbClr val="A78BFA"/>
              </a:solidFill>
              <a:ln>
                <a:solidFill>
                  <a:srgbClr val="A78BFA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Endpoint Protection</c:v>
                </c:pt>
                <c:pt idx="1">
                  <c:v>Identity &amp; Access Management</c:v>
                </c:pt>
                <c:pt idx="2">
                  <c:v>Cloud Security Posture</c:v>
                </c:pt>
                <c:pt idx="3">
                  <c:v>Security Operations Center</c:v>
                </c:pt>
                <c:pt idx="4">
                  <c:v>Compliance/Training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12.0</c:v>
                </c:pt>
                <c:pt idx="4">
                  <c:v>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B9C7D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61000">
                <a:srgbClr val="090A0F"/>
              </a:gs>
              <a:gs pos="100000">
                <a:srgbClr val="081D2C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gradFill rotWithShape="1">
            <a:gsLst>
              <a:gs pos="0">
                <a:srgbClr val="063652"/>
              </a:gs>
              <a:gs pos="100000">
                <a:srgbClr val="090E15"/>
              </a:gs>
            </a:gsLst>
            <a:lin ang="18900000" scaled="1"/>
          </a:gradFill>
          <a:xfrm>
            <a:off x="8183879" y="960120"/>
            <a:ext cx="2788920" cy="2788920"/>
          </a:xfrm>
          <a:prstGeom prst="ellipse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8FF"/>
                </a:solidFill>
                <a:latin typeface="Arial"/>
              </a:defRPr>
            </a:pPr>
            <a:r>
              <a:t>SLIDEWEAVER /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81328"/>
            <a:ext cx="6995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000" b="1">
                <a:solidFill>
                  <a:srgbClr val="F5F8FF"/>
                </a:solidFill>
                <a:latin typeface="Arial"/>
              </a:defRPr>
            </a:pPr>
            <a:r>
              <a:t>Enterprise Cybersecurity Risk &amp; Threat Intelligence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18795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9C7D8"/>
                </a:solidFill>
                <a:latin typeface="Arial"/>
              </a:defRPr>
            </a:pPr>
            <a:r>
              <a:t>Executive posture review covering threat exposure, response readiness, and zero-trust control maturity.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52000">
                <a:srgbClr val="09111A"/>
              </a:gs>
              <a:gs pos="100000">
                <a:srgbClr val="081F2E"/>
              </a:gs>
            </a:gsLst>
            <a:lin ang="189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Executive threat landscape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938528"/>
            <a:ext cx="73152" cy="3310128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8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63946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rial"/>
              </a:defRPr>
            </a:pPr>
            <a:r>
              <a:t>Vulnerability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B9C7D8"/>
                </a:solidFill>
                <a:latin typeface="Arial"/>
              </a:defRPr>
            </a:pPr>
            <a:r>
              <a:t>Current value not supplied.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5687" y="1938528"/>
            <a:ext cx="73152" cy="3310128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1719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8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1719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63946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1719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rial"/>
              </a:defRPr>
            </a:pPr>
            <a:r>
              <a:t>MTTD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1719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B9C7D8"/>
                </a:solidFill>
                <a:latin typeface="Arial"/>
              </a:defRPr>
            </a:pPr>
            <a:r>
              <a:t>Current value not supplied.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1" y="1938528"/>
            <a:ext cx="73152" cy="3310128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3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8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63946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rial"/>
              </a:defRPr>
            </a:pPr>
            <a:r>
              <a:t>MTTR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3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B9C7D8"/>
                </a:solidFill>
                <a:latin typeface="Arial"/>
              </a:defRPr>
            </a:pPr>
            <a:r>
              <a:t>Current value not supplied.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7175" y="1938528"/>
            <a:ext cx="73152" cy="3310128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3207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8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207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63946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207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rial"/>
              </a:defRPr>
            </a:pPr>
            <a:r>
              <a:t>Zero-trust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3207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B9C7D8"/>
                </a:solidFill>
                <a:latin typeface="Arial"/>
              </a:defRPr>
            </a:pPr>
            <a:r>
              <a:t>Current value not supplied.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9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7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52000">
                <a:srgbClr val="09111A"/>
              </a:gs>
              <a:gs pos="100000">
                <a:srgbClr val="081F2E"/>
              </a:gs>
            </a:gsLst>
            <a:lin ang="189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5F8FF"/>
                </a:solidFill>
                <a:latin typeface="Arial"/>
              </a:defRPr>
            </a:pPr>
            <a:r>
              <a:t>Monthly cyber attack frequency and blocked threat volume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Vulnerability severity input matrix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190"/>
                <a:gridCol w="1841217"/>
                <a:gridCol w="1841217"/>
                <a:gridCol w="380518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On-premise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Multi-cloud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Containerized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52000">
                <a:srgbClr val="09111A"/>
              </a:gs>
              <a:gs pos="100000">
                <a:srgbClr val="081F2E"/>
              </a:gs>
            </a:gsLst>
            <a:lin ang="189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Security budget allocation breakdown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Q2 incident response performance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602"/>
                <a:gridCol w="3600602"/>
                <a:gridCol w="360060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90A0F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00A8FF"/>
                    </a:solidFill>
                  </a:tcPr>
                </a:tc>
              </a:tr>
              <a:tr h="124967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Phishing Click Rate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</a:tr>
              <a:tr h="124967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Patch Compliance Speed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48 hours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24 hours</a:t>
                      </a:r>
                    </a:p>
                  </a:txBody>
                  <a:tcPr>
                    <a:solidFill>
                      <a:srgbClr val="121722"/>
                    </a:solidFill>
                  </a:tcPr>
                </a:tc>
              </a:tr>
              <a:tr h="1249679"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SOC Tier-1 Escalation Accuracy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5F8FF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71C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64000">
                <a:srgbClr val="090A0F"/>
              </a:gs>
              <a:gs pos="100000">
                <a:srgbClr val="0818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Zero-trust architecture data flow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4649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977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305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33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993392"/>
            <a:ext cx="2028687" cy="3493008"/>
          </a:xfrm>
          <a:prstGeom prst="roundRect">
            <a:avLst/>
          </a:prstGeom>
          <a:solidFill>
            <a:srgbClr val="1A1F2A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endpoint device attestation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223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8822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3452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452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623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secure identity gateway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551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150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2780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80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951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micro-segmentation policy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879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7478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2108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108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279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contextual risk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207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6806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1436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436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607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authorized workload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64000">
                <a:srgbClr val="090A0F"/>
              </a:gs>
              <a:gs pos="100000">
                <a:srgbClr val="0818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Automated threat remediation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4649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977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305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331" y="3739896"/>
            <a:ext cx="11887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993392"/>
            <a:ext cx="2028687" cy="3493008"/>
          </a:xfrm>
          <a:prstGeom prst="roundRect">
            <a:avLst/>
          </a:prstGeom>
          <a:solidFill>
            <a:srgbClr val="1A1F2A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real-time SIEM log 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223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8822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3452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452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623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rial"/>
              </a:defRPr>
            </a:pPr>
            <a:r>
              <a:t>threat intelligence enrichment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551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150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2780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80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951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rial"/>
              </a:defRPr>
            </a:pPr>
            <a:r>
              <a:t>LLM-driven behavioral anomaly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879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7478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2108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108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279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automated ticket dispatch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2071" y="2075688"/>
            <a:ext cx="202868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68063" y="1993392"/>
            <a:ext cx="202868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1436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436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6079" y="2862072"/>
            <a:ext cx="17726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firewall isolation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90A0F"/>
              </a:gs>
              <a:gs pos="64000">
                <a:srgbClr val="090A0F"/>
              </a:gs>
              <a:gs pos="100000">
                <a:srgbClr val="0818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9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5F8FF"/>
                </a:solidFill>
                <a:latin typeface="Arial"/>
              </a:defRPr>
            </a:pPr>
            <a:r>
              <a:t>Enterprise security roadmap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62B9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26231" y="3739896"/>
            <a:ext cx="21031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90691" y="3739896"/>
            <a:ext cx="21031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55151" y="3739896"/>
            <a:ext cx="210312" cy="0"/>
          </a:xfrm>
          <a:prstGeom prst="line">
            <a:avLst/>
          </a:prstGeom>
          <a:ln w="17145">
            <a:solidFill>
              <a:srgbClr val="00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993392"/>
            <a:ext cx="2508427" cy="3493008"/>
          </a:xfrm>
          <a:prstGeom prst="roundRect">
            <a:avLst/>
          </a:prstGeom>
          <a:solidFill>
            <a:srgbClr val="1A1F2A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  <a:latin typeface="Arial"/>
              </a:defRPr>
            </a:pPr>
            <a:r>
              <a:t>baseline asset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9C7D8"/>
                </a:solidFill>
                <a:latin typeface="Arial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352341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9403" y="1993392"/>
            <a:ext cx="250842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570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570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741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rial"/>
              </a:defRPr>
            </a:pPr>
            <a:r>
              <a:t>identity federation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570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9C7D8"/>
                </a:solidFill>
                <a:latin typeface="Arial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28787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3863" y="1993392"/>
            <a:ext cx="250842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5F8FF"/>
                </a:solidFill>
                <a:latin typeface="Arial"/>
              </a:defRPr>
            </a:pPr>
            <a:r>
              <a:t>autonomous threat containment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9C7D8"/>
                </a:solidFill>
                <a:latin typeface="Arial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905233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323" y="1993392"/>
            <a:ext cx="2508427" cy="3493008"/>
          </a:xfrm>
          <a:prstGeom prst="roundRect">
            <a:avLst/>
          </a:prstGeom>
          <a:solidFill>
            <a:srgbClr val="121722"/>
          </a:solidFill>
          <a:ln>
            <a:solidFill>
              <a:srgbClr val="008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34627" y="2139696"/>
            <a:ext cx="420624" cy="420624"/>
          </a:xfrm>
          <a:prstGeom prst="ellipse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62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90A0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33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rial"/>
              </a:defRPr>
            </a:pPr>
            <a:r>
              <a:t>zero-trust operational maturity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62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9C7D8"/>
                </a:solidFill>
                <a:latin typeface="Arial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D91A8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1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4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