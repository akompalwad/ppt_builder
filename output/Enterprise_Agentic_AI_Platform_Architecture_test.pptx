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1000">
                <a:srgbClr val="070E17"/>
              </a:gs>
              <a:gs pos="100000">
                <a:srgbClr val="06292C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gradFill rotWithShape="1">
            <a:gsLst>
              <a:gs pos="0">
                <a:srgbClr val="054E47"/>
              </a:gs>
              <a:gs pos="100000">
                <a:srgbClr val="07141B"/>
              </a:gs>
            </a:gsLst>
            <a:lin ang="18900000" scaled="1"/>
          </a:gradFill>
          <a:xfrm>
            <a:off x="8183879" y="960120"/>
            <a:ext cx="2788920" cy="2788920"/>
          </a:xfrm>
          <a:prstGeom prst="ellipse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SLIDEWEAVER /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81328"/>
            <a:ext cx="6995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FFE600"/>
                </a:solidFill>
                <a:latin typeface="Arial"/>
              </a:defRPr>
            </a:pPr>
            <a:r>
              <a:t>Enterprise Agentic AI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18795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  <a:r>
              <a:t>Executive posture review covering threat exposure, response readiness, and zero-trust control maturity.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Business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020824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938528"/>
            <a:ext cx="5291175" cy="1703832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39696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3969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Fragmented enterprise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532888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269583" y="2020824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5575" y="1938528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6743" y="2139696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6743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8807" y="213969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Manual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2532888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58952" y="3944112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3861816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4062984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2699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062984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Slow decision-making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45617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269583" y="3944112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5575" y="3861816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6743" y="4062984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6743" y="412699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8807" y="4062984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Hallucination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8807" y="445617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Enterprise agentic AI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147718" y="266547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33664" y="266547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409901" y="3502152"/>
            <a:ext cx="7371893" cy="182880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47718" y="452170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33664" y="452170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" y="1929384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" y="1847088"/>
            <a:ext cx="3429914" cy="163677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4898" y="1929384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0890" y="1847088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7194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7194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906" y="2468880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AI 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0844" y="1929384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6836" y="1847088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3140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3140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4852" y="2468880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Agent orchestration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3785616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" y="3703320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8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25112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4898" y="3785616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0890" y="3703320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7194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7194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8906" y="4325112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0844" y="3785616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66836" y="3703320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3140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3140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4852" y="4325112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Enterprise systems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1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4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RAG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46491" y="2665476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9771" y="2665476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3051" y="2665476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331" y="2665476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709287" y="3502152"/>
            <a:ext cx="8773120" cy="182880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6491" y="452170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9771" y="452170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3051" y="452170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" y="1929384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" y="1847088"/>
            <a:ext cx="2028687" cy="163677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68880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ingestion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2231" y="1929384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8223" y="1847088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4527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4527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6239" y="2468880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document processing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5511" y="1929384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81503" y="1847088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27807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27807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9519" y="2468880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chunking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8791" y="1929384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74783" y="1847088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21087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21087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2799" y="2468880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embeddings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32071" y="1929384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68063" y="1847088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14367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4367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6079" y="2468880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vector storage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" y="3785616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4944" y="3703320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1248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325112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retrieval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52231" y="3785616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888223" y="3703320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034527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34527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6239" y="4325112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reranking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45511" y="3785616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81503" y="3703320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27807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7807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9519" y="4325112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prompt construction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38791" y="3785616"/>
            <a:ext cx="2028687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274783" y="3703320"/>
            <a:ext cx="2028687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21087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1087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2799" y="4325112"/>
            <a:ext cx="17726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generation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1" dur="4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4" dur="42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Agentic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147718" y="266547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33664" y="266547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409901" y="3502152"/>
            <a:ext cx="7371893" cy="182880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47718" y="452170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33664" y="452170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" y="1929384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" y="1847088"/>
            <a:ext cx="3429914" cy="163677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planner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4898" y="1929384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0890" y="1847088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7194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7194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906" y="2468880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specialized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0844" y="1929384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6836" y="1847088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3140" y="199339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3140" y="209763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4852" y="2468880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tool calling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3785616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" y="3703320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8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25112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memory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4898" y="3785616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0890" y="3703320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7194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7194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8906" y="4325112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0844" y="3785616"/>
            <a:ext cx="3429914" cy="163677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66836" y="3703320"/>
            <a:ext cx="3429914" cy="163677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3140" y="3849624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3140" y="395386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4852" y="4325112"/>
            <a:ext cx="317388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human 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1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4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Azure deployment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89904" y="2782062"/>
            <a:ext cx="0" cy="128015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863339"/>
            <a:ext cx="0" cy="128017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9904" y="4944617"/>
            <a:ext cx="0" cy="128016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1929384"/>
            <a:ext cx="10789920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847088"/>
            <a:ext cx="10789920" cy="91668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API and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1343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API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App Services / AKS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" y="3010661"/>
            <a:ext cx="10277856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" y="2928365"/>
            <a:ext cx="10277856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092958"/>
            <a:ext cx="9729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Integration and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39470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Azure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53186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Service Bus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71016" y="4091939"/>
            <a:ext cx="9765792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07008" y="4009644"/>
            <a:ext cx="9765792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4174235"/>
            <a:ext cx="9217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Data and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47598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Blob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61314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Azure AI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750307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Azure OpenAI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7048" y="5173217"/>
            <a:ext cx="9253728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63040" y="5090921"/>
            <a:ext cx="9253728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5255513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Security and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55726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Key Vault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569442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Application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Security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89904" y="2782062"/>
            <a:ext cx="0" cy="128015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863339"/>
            <a:ext cx="0" cy="128017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9904" y="4944617"/>
            <a:ext cx="0" cy="128016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1929384"/>
            <a:ext cx="10789920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847088"/>
            <a:ext cx="10789920" cy="91668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Identity and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1343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Managed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" y="3010661"/>
            <a:ext cx="10277856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" y="2928365"/>
            <a:ext cx="10277856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092958"/>
            <a:ext cx="9729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Network and secrets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39470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Network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53186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Secrets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71016" y="4091939"/>
            <a:ext cx="9765792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07008" y="4009644"/>
            <a:ext cx="9765792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4174235"/>
            <a:ext cx="9217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AI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47598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PII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61314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Prompt injection protection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7048" y="5173217"/>
            <a:ext cx="9253728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40" y="5090921"/>
            <a:ext cx="9253728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255513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555726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Audit logging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Scalability and reliability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89904" y="2782062"/>
            <a:ext cx="0" cy="128015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863339"/>
            <a:ext cx="0" cy="128017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9904" y="4944617"/>
            <a:ext cx="0" cy="128016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1929384"/>
            <a:ext cx="10789920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847088"/>
            <a:ext cx="10789920" cy="91668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Scale and workload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1343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Horizontal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Queues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" y="3010661"/>
            <a:ext cx="10277856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" y="2928365"/>
            <a:ext cx="10277856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092958"/>
            <a:ext cx="9729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39470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Caching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71016" y="4091939"/>
            <a:ext cx="9765792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7008" y="4009644"/>
            <a:ext cx="9765792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4174235"/>
            <a:ext cx="9217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Fault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47598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Circuit breakers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61314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Retries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750307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Dead-letter queues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7048" y="5173217"/>
            <a:ext cx="9253728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40" y="5090921"/>
            <a:ext cx="9253728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255513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555726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Cost optimization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627632"/>
          <a:ext cx="10801806" cy="431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602"/>
                <a:gridCol w="3600602"/>
                <a:gridCol w="3600602"/>
              </a:tblGrid>
              <a:tr h="566928"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Infrastructure component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Primary cost driver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Optimization strategy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LLM inference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Token volume and model selection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Route simple tasks to smaller models and enforce token budgets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Always-on application capacity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Autoscale workloads and use queue-driven workers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Vector search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Index size and query volume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Apply lifecycle policies and retrieve only relevant partitions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Storage and observability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Retention of documents and telemetry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Tier cold data and set retention limits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2623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9069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5515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993392"/>
            <a:ext cx="2508427" cy="3493008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4F8FB"/>
                </a:solidFill>
                <a:latin typeface="Arial"/>
              </a:defRPr>
            </a:pPr>
            <a:r>
              <a:t>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352341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940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570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570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741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production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570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628787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386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enterprise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905233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8832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3462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62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33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autonomous-agent phase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62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1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4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