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61000">
                <a:srgbClr val="070E17"/>
              </a:gs>
              <a:gs pos="100000">
                <a:srgbClr val="06292C"/>
              </a:gs>
            </a:gsLst>
            <a:lin ang="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gradFill rotWithShape="1">
            <a:gsLst>
              <a:gs pos="0">
                <a:srgbClr val="054E47"/>
              </a:gs>
              <a:gs pos="100000">
                <a:srgbClr val="07141B"/>
              </a:gs>
            </a:gsLst>
            <a:lin ang="18900000" scaled="1"/>
          </a:gradFill>
          <a:xfrm>
            <a:off x="8183879" y="960120"/>
            <a:ext cx="2788920" cy="2788920"/>
          </a:xfrm>
          <a:prstGeom prst="ellipse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SLIDEWEAVER /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481328"/>
            <a:ext cx="69951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400" b="1">
                <a:solidFill>
                  <a:srgbClr val="FFE600"/>
                </a:solidFill>
                <a:latin typeface="Arial"/>
              </a:defRPr>
            </a:pPr>
            <a:r>
              <a:t>Enterprise Agentic AI 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187952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7C6D5"/>
                </a:solidFill>
                <a:latin typeface="Arial"/>
              </a:defRPr>
            </a:pPr>
            <a:r>
              <a:t>Executive posture review covering threat exposure, response readiness, and zero-trust control maturity.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2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Business problem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2020824"/>
            <a:ext cx="5291175" cy="170383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" y="1938528"/>
            <a:ext cx="5291175" cy="1703832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2139696"/>
            <a:ext cx="347472" cy="347472"/>
          </a:xfrm>
          <a:prstGeom prst="round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0370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139696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F4F8FB"/>
                </a:solidFill>
                <a:latin typeface="Arial"/>
              </a:defRPr>
            </a:pPr>
            <a:r>
              <a:t>Fragmented enterprise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532888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7C6D5"/>
                </a:solidFill>
                <a:latin typeface="Arial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6269583" y="2020824"/>
            <a:ext cx="5291175" cy="170383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05575" y="1938528"/>
            <a:ext cx="5291175" cy="1703832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6743" y="2139696"/>
            <a:ext cx="347472" cy="347472"/>
          </a:xfrm>
          <a:prstGeom prst="round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6743" y="220370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8807" y="2139696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F4F8FB"/>
                </a:solidFill>
                <a:latin typeface="Arial"/>
              </a:defRPr>
            </a:pPr>
            <a:r>
              <a:t>Manual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8807" y="2532888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7C6D5"/>
                </a:solidFill>
                <a:latin typeface="Arial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758952" y="3944112"/>
            <a:ext cx="5291175" cy="170383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3861816"/>
            <a:ext cx="5291175" cy="1703832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" y="4062984"/>
            <a:ext cx="347472" cy="347472"/>
          </a:xfrm>
          <a:prstGeom prst="round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126992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4062984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F4F8FB"/>
                </a:solidFill>
                <a:latin typeface="Arial"/>
              </a:defRPr>
            </a:pPr>
            <a:r>
              <a:t>Slow decision-making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456176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7C6D5"/>
                </a:solidFill>
                <a:latin typeface="Arial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6269583" y="3944112"/>
            <a:ext cx="5291175" cy="170383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05575" y="3861816"/>
            <a:ext cx="5291175" cy="1703832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6743" y="4062984"/>
            <a:ext cx="347472" cy="347472"/>
          </a:xfrm>
          <a:prstGeom prst="round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6743" y="4126992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8807" y="4062984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F4F8FB"/>
                </a:solidFill>
                <a:latin typeface="Arial"/>
              </a:defRPr>
            </a:pPr>
            <a:r>
              <a:t>Hallucination 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8807" y="4456176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7C6D5"/>
                </a:solidFill>
                <a:latin typeface="Arial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2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42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4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64000">
                <a:srgbClr val="070E17"/>
              </a:gs>
              <a:gs pos="100000">
                <a:srgbClr val="062326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Enterprise agentic AI platform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" y="1700784"/>
            <a:ext cx="3621024" cy="4224528"/>
          </a:xfrm>
          <a:prstGeom prst="roundRect">
            <a:avLst/>
          </a:prstGeom>
          <a:solidFill>
            <a:srgbClr val="0C1825"/>
          </a:solidFill>
          <a:ln>
            <a:solidFill>
              <a:srgbClr val="00C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874519"/>
            <a:ext cx="32552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0F2C3"/>
                </a:solidFill>
                <a:latin typeface="Arial"/>
              </a:defRPr>
            </a:pPr>
            <a:r>
              <a:t>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1700784"/>
            <a:ext cx="3621024" cy="4224528"/>
          </a:xfrm>
          <a:prstGeom prst="roundRect">
            <a:avLst/>
          </a:prstGeom>
          <a:solidFill>
            <a:srgbClr val="0C1825"/>
          </a:solidFill>
          <a:ln>
            <a:solidFill>
              <a:srgbClr val="00C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1874519"/>
            <a:ext cx="32552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0F2C3"/>
                </a:solidFill>
                <a:latin typeface="Arial"/>
              </a:defRPr>
            </a:pPr>
            <a:r>
              <a:t>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54112" y="1700784"/>
            <a:ext cx="3621024" cy="4224528"/>
          </a:xfrm>
          <a:prstGeom prst="roundRect">
            <a:avLst/>
          </a:prstGeom>
          <a:solidFill>
            <a:srgbClr val="0C1825"/>
          </a:solidFill>
          <a:ln>
            <a:solidFill>
              <a:srgbClr val="00C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1874519"/>
            <a:ext cx="32552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0F2C3"/>
                </a:solidFill>
                <a:latin typeface="Arial"/>
              </a:defRPr>
            </a:pPr>
            <a:r>
              <a:t>ENTERPRISE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05456" y="3538728"/>
            <a:ext cx="0" cy="402336"/>
          </a:xfrm>
          <a:prstGeom prst="line">
            <a:avLst/>
          </a:prstGeom>
          <a:ln w="19050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096511" y="2889504"/>
            <a:ext cx="347473" cy="1700784"/>
          </a:xfrm>
          <a:prstGeom prst="line">
            <a:avLst/>
          </a:prstGeom>
          <a:ln w="19050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3538728"/>
            <a:ext cx="0" cy="402336"/>
          </a:xfrm>
          <a:prstGeom prst="line">
            <a:avLst/>
          </a:prstGeom>
          <a:ln w="19050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626096" y="2889504"/>
            <a:ext cx="347472" cy="1700784"/>
          </a:xfrm>
          <a:prstGeom prst="line">
            <a:avLst/>
          </a:prstGeom>
          <a:ln w="19050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564624" y="3538728"/>
            <a:ext cx="0" cy="402336"/>
          </a:xfrm>
          <a:prstGeom prst="line">
            <a:avLst/>
          </a:prstGeom>
          <a:ln w="19050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96696" y="2340864"/>
            <a:ext cx="3145536" cy="126187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2258568"/>
            <a:ext cx="3145536" cy="1261872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2386584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642616"/>
            <a:ext cx="2816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>
                <a:solidFill>
                  <a:srgbClr val="F4F8FB"/>
                </a:solidFill>
                <a:latin typeface="Arial"/>
              </a:defRPr>
            </a:pPr>
            <a:r>
              <a:t>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990088"/>
            <a:ext cx="2816352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" y="4041648"/>
            <a:ext cx="3145536" cy="126187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" y="3959352"/>
            <a:ext cx="3145536" cy="1261872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087368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43400"/>
            <a:ext cx="2816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>
                <a:solidFill>
                  <a:srgbClr val="F4F8FB"/>
                </a:solidFill>
                <a:latin typeface="Arial"/>
              </a:defRPr>
            </a:pPr>
            <a:r>
              <a:t>AI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690872"/>
            <a:ext cx="2816352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2340864"/>
            <a:ext cx="3145536" cy="126187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62272" y="2258568"/>
            <a:ext cx="3145536" cy="1261872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2386584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2642616"/>
            <a:ext cx="2816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>
                <a:solidFill>
                  <a:srgbClr val="F4F8FB"/>
                </a:solidFill>
                <a:latin typeface="Arial"/>
              </a:defRPr>
            </a:pPr>
            <a:r>
              <a:t>Agent 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2990088"/>
            <a:ext cx="2816352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4041648"/>
            <a:ext cx="3145536" cy="126187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62272" y="3959352"/>
            <a:ext cx="3145536" cy="1261872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08576" y="4087368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6864" y="4343400"/>
            <a:ext cx="2816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>
                <a:solidFill>
                  <a:srgbClr val="F4F8FB"/>
                </a:solidFill>
                <a:latin typeface="Arial"/>
              </a:defRPr>
            </a:pPr>
            <a:r>
              <a:t>RAG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6864" y="4690872"/>
            <a:ext cx="2816352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55864" y="2340864"/>
            <a:ext cx="3145536" cy="126187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91856" y="2258568"/>
            <a:ext cx="3145536" cy="1261872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386584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448" y="2642616"/>
            <a:ext cx="2816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>
                <a:solidFill>
                  <a:srgbClr val="F4F8FB"/>
                </a:solidFill>
                <a:latin typeface="Arial"/>
              </a:defRPr>
            </a:pPr>
            <a:r>
              <a:t>LLM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2990088"/>
            <a:ext cx="2816352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55864" y="4041648"/>
            <a:ext cx="3145536" cy="126187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91856" y="3959352"/>
            <a:ext cx="3145536" cy="1261872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4087368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6448" y="4343400"/>
            <a:ext cx="2816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>
                <a:solidFill>
                  <a:srgbClr val="F4F8FB"/>
                </a:solidFill>
                <a:latin typeface="Arial"/>
              </a:defRPr>
            </a:pPr>
            <a:r>
              <a:t>Enterprise systems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56448" y="4690872"/>
            <a:ext cx="2816352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9" dur="4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2" dur="42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3" dur="42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6" dur="42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7" dur="4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64000">
                <a:srgbClr val="070E17"/>
              </a:gs>
              <a:gs pos="100000">
                <a:srgbClr val="062326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RAG pipeline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89888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FLOW OF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962656" y="1453896"/>
            <a:ext cx="7955279" cy="2286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746491" y="2670048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9771" y="2670048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33051" y="2670048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26331" y="2670048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709287" y="3694175"/>
            <a:ext cx="8773120" cy="182881"/>
          </a:xfrm>
          <a:prstGeom prst="bentConnector3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46491" y="4901183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9771" y="4901183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3051" y="4901183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8952" y="1746504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4944" y="1664208"/>
            <a:ext cx="2028687" cy="2011679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8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267712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ingestion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798064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Collect source documents and records from approved enterprise systems.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52231" y="1746504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88223" y="1664208"/>
            <a:ext cx="2028687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34527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34527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6239" y="2267712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document 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34527" y="2798064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Clean, normalize, and extract usable text and metadata.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5511" y="1746504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81503" y="1664208"/>
            <a:ext cx="2028687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227807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27807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9519" y="2267712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chunking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27807" y="2798064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Split documents into retrieval-ready passages while retaining context.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38791" y="1746504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74783" y="1664208"/>
            <a:ext cx="2028687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421087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21087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2799" y="2267712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embeddings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1087" y="2798064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Convert passages into semantic vectors for similarity search.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32071" y="1746504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468063" y="1664208"/>
            <a:ext cx="2028687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614367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14367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96079" y="2267712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vector storage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14367" y="2798064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Index vectors and metadata for governed, low-latency retrieval.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" y="3977639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94944" y="3895344"/>
            <a:ext cx="2028687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1248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4498848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retrieval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" y="5029200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Select the most relevant evidence for the incoming request.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52231" y="3977639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888223" y="3895344"/>
            <a:ext cx="2028687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34527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34527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6239" y="4498848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reranking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34527" y="5029200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Prioritize retrieved evidence using relevance and policy signals.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145511" y="3977639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081503" y="3895344"/>
            <a:ext cx="2028687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227807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27807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09519" y="4498848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prompt construction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27807" y="5029200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Combine the request, instructions, and grounded context for the model.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38791" y="3977639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274783" y="3895344"/>
            <a:ext cx="2028687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21087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21087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2799" y="4498848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generation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21087" y="5029200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Produce a response grounded in approved retrieved evidence.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9" dur="4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2" dur="42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3" dur="42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6" dur="42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7" dur="4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64000">
                <a:srgbClr val="070E17"/>
              </a:gs>
              <a:gs pos="100000">
                <a:srgbClr val="062326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Agentic workflow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89888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FLOW OF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962656" y="1453896"/>
            <a:ext cx="7955279" cy="2286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147718" y="2670048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833664" y="2670048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409901" y="3694175"/>
            <a:ext cx="7371893" cy="182881"/>
          </a:xfrm>
          <a:prstGeom prst="bentConnector3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47718" y="4901183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33664" y="4901183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8952" y="1746504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664208"/>
            <a:ext cx="3429914" cy="2011679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267712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planner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2798064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4898" y="1746504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0890" y="1664208"/>
            <a:ext cx="3429914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7194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7194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8906" y="2267712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specialized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7194" y="2798064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0844" y="1746504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66836" y="1664208"/>
            <a:ext cx="3429914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13140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3140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4852" y="2267712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tool calling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3140" y="2798064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" y="3977639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4944" y="3895344"/>
            <a:ext cx="3429914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498848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memory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029200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44898" y="3977639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380890" y="3895344"/>
            <a:ext cx="3429914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27194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7194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8906" y="4498848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7194" y="5029200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0844" y="3977639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066836" y="3895344"/>
            <a:ext cx="3429914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13140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13140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4852" y="4498848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human approval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3140" y="5029200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9" dur="4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2" dur="42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3" dur="42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6" dur="42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7" dur="42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100000">
                <a:srgbClr val="062025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Azure deployment architecture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1837943"/>
            <a:ext cx="8183879" cy="93268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8183879" cy="932688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7708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API and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94560"/>
            <a:ext cx="7671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API Management</a:t>
            </a:r>
            <a:br/>
            <a:r>
              <a:t>• App Services / AKS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" y="2916935"/>
            <a:ext cx="8001000" cy="93268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834639"/>
            <a:ext cx="8001000" cy="93268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980944"/>
            <a:ext cx="7525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Integration and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3273551"/>
            <a:ext cx="7488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Azure Functions</a:t>
            </a:r>
            <a:br/>
            <a:r>
              <a:t>• Service Bus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" y="3995927"/>
            <a:ext cx="7818119" cy="93268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7824" y="3913631"/>
            <a:ext cx="7818119" cy="93268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059935"/>
            <a:ext cx="73426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Data and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352544"/>
            <a:ext cx="73060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Blob Storage</a:t>
            </a:r>
            <a:br/>
            <a:r>
              <a:t>• Azure AI Search</a:t>
            </a:r>
            <a:br/>
            <a:r>
              <a:t>• Azure OpenAI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" y="5074920"/>
            <a:ext cx="7635240" cy="93268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9264" y="4992624"/>
            <a:ext cx="7635240" cy="93268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5138928"/>
            <a:ext cx="7159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Security and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5431536"/>
            <a:ext cx="7123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Key Vault</a:t>
            </a:r>
            <a:br/>
            <a:r>
              <a:t>• Application Insights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53728" y="1755648"/>
            <a:ext cx="2194560" cy="4169663"/>
          </a:xfrm>
          <a:prstGeom prst="roundRect">
            <a:avLst/>
          </a:prstGeom>
          <a:solidFill>
            <a:srgbClr val="0C1825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19" y="2029968"/>
            <a:ext cx="1865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0F2C3"/>
                </a:solidFill>
                <a:latin typeface="Arial"/>
              </a:defRPr>
            </a:pPr>
            <a:r>
              <a:t>CROSS-CUTTING</a:t>
            </a:r>
            <a:br/>
            <a:r>
              <a:t>CONTROLS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54896" y="2788920"/>
            <a:ext cx="1792224" cy="493776"/>
          </a:xfrm>
          <a:prstGeom prst="roundRect">
            <a:avLst/>
          </a:prstGeom>
          <a:solidFill>
            <a:srgbClr val="1E2F3F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64624" y="2962656"/>
            <a:ext cx="157276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F4F8FB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54896" y="3630168"/>
            <a:ext cx="1792224" cy="493776"/>
          </a:xfrm>
          <a:prstGeom prst="roundRect">
            <a:avLst/>
          </a:prstGeom>
          <a:solidFill>
            <a:srgbClr val="1E2F3F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64624" y="3803904"/>
            <a:ext cx="157276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F4F8FB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54896" y="4471416"/>
            <a:ext cx="1792224" cy="493776"/>
          </a:xfrm>
          <a:prstGeom prst="roundRect">
            <a:avLst/>
          </a:prstGeom>
          <a:solidFill>
            <a:srgbClr val="1E2F3F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64624" y="4645152"/>
            <a:ext cx="157276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F4F8FB"/>
                </a:solidFill>
                <a:latin typeface="Arial"/>
              </a:defRPr>
            </a:pPr>
            <a:r>
              <a:t>Observability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8" dur="42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1" dur="42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4" dur="4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100000">
                <a:srgbClr val="062025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Security architecture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1837943"/>
            <a:ext cx="8183879" cy="93268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8183879" cy="932688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7708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Identity and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94560"/>
            <a:ext cx="7671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Managed Identity</a:t>
            </a:r>
            <a:br/>
            <a:r>
              <a:t>• RBAC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" y="2916935"/>
            <a:ext cx="8001000" cy="93268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834639"/>
            <a:ext cx="8001000" cy="93268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980944"/>
            <a:ext cx="7525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Network and secrets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3273551"/>
            <a:ext cx="7488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Network isolation</a:t>
            </a:r>
            <a:br/>
            <a:r>
              <a:t>• Secrets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" y="3995927"/>
            <a:ext cx="7818119" cy="93268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7824" y="3913631"/>
            <a:ext cx="7818119" cy="93268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059935"/>
            <a:ext cx="73426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AI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352544"/>
            <a:ext cx="73060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PII protection</a:t>
            </a:r>
            <a:br/>
            <a:r>
              <a:t>• Prompt injection protection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" y="5074920"/>
            <a:ext cx="7635240" cy="93268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9264" y="4992624"/>
            <a:ext cx="7635240" cy="93268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5138928"/>
            <a:ext cx="7159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5431536"/>
            <a:ext cx="7123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Audit logging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53728" y="1755648"/>
            <a:ext cx="2194560" cy="4169663"/>
          </a:xfrm>
          <a:prstGeom prst="roundRect">
            <a:avLst/>
          </a:prstGeom>
          <a:solidFill>
            <a:srgbClr val="0C1825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19" y="2029968"/>
            <a:ext cx="1865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0F2C3"/>
                </a:solidFill>
                <a:latin typeface="Arial"/>
              </a:defRPr>
            </a:pPr>
            <a:r>
              <a:t>CROSS-CUTTING</a:t>
            </a:r>
            <a:br/>
            <a:r>
              <a:t>CONTROLS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54896" y="2788920"/>
            <a:ext cx="1792224" cy="493776"/>
          </a:xfrm>
          <a:prstGeom prst="roundRect">
            <a:avLst/>
          </a:prstGeom>
          <a:solidFill>
            <a:srgbClr val="1E2F3F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64624" y="2962656"/>
            <a:ext cx="157276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F4F8FB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54896" y="3630168"/>
            <a:ext cx="1792224" cy="493776"/>
          </a:xfrm>
          <a:prstGeom prst="roundRect">
            <a:avLst/>
          </a:prstGeom>
          <a:solidFill>
            <a:srgbClr val="1E2F3F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64624" y="3803904"/>
            <a:ext cx="157276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F4F8FB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54896" y="4471416"/>
            <a:ext cx="1792224" cy="493776"/>
          </a:xfrm>
          <a:prstGeom prst="roundRect">
            <a:avLst/>
          </a:prstGeom>
          <a:solidFill>
            <a:srgbClr val="1E2F3F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64624" y="4645152"/>
            <a:ext cx="157276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F4F8FB"/>
                </a:solidFill>
                <a:latin typeface="Arial"/>
              </a:defRPr>
            </a:pPr>
            <a:r>
              <a:t>Observability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8" dur="42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1" dur="42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4" dur="4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100000">
                <a:srgbClr val="062025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Scalability and reliability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1837943"/>
            <a:ext cx="8183879" cy="93268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8183879" cy="932688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7708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Scale and workload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94560"/>
            <a:ext cx="7671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Horizontal scaling</a:t>
            </a:r>
            <a:br/>
            <a:r>
              <a:t>• Queues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" y="2916935"/>
            <a:ext cx="8001000" cy="93268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834639"/>
            <a:ext cx="8001000" cy="93268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980944"/>
            <a:ext cx="7525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3273551"/>
            <a:ext cx="7488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Caching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" y="3995927"/>
            <a:ext cx="7818119" cy="93268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7824" y="3913631"/>
            <a:ext cx="7818119" cy="93268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059935"/>
            <a:ext cx="73426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Fault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352544"/>
            <a:ext cx="73060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Circuit breakers</a:t>
            </a:r>
            <a:br/>
            <a:r>
              <a:t>• Retries</a:t>
            </a:r>
            <a:br/>
            <a:r>
              <a:t>• Dead-letter queues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" y="5074920"/>
            <a:ext cx="7635240" cy="93268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9264" y="4992624"/>
            <a:ext cx="7635240" cy="93268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5138928"/>
            <a:ext cx="7159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5431536"/>
            <a:ext cx="7123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Observability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53728" y="1755648"/>
            <a:ext cx="2194560" cy="4169663"/>
          </a:xfrm>
          <a:prstGeom prst="roundRect">
            <a:avLst/>
          </a:prstGeom>
          <a:solidFill>
            <a:srgbClr val="0C1825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19" y="2029968"/>
            <a:ext cx="1865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0F2C3"/>
                </a:solidFill>
                <a:latin typeface="Arial"/>
              </a:defRPr>
            </a:pPr>
            <a:r>
              <a:t>CROSS-CUTTING</a:t>
            </a:r>
            <a:br/>
            <a:r>
              <a:t>CONTROLS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54896" y="2788920"/>
            <a:ext cx="1792224" cy="493776"/>
          </a:xfrm>
          <a:prstGeom prst="roundRect">
            <a:avLst/>
          </a:prstGeom>
          <a:solidFill>
            <a:srgbClr val="1E2F3F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64624" y="2962656"/>
            <a:ext cx="157276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F4F8FB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54896" y="3630168"/>
            <a:ext cx="1792224" cy="493776"/>
          </a:xfrm>
          <a:prstGeom prst="roundRect">
            <a:avLst/>
          </a:prstGeom>
          <a:solidFill>
            <a:srgbClr val="1E2F3F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64624" y="3803904"/>
            <a:ext cx="157276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F4F8FB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54896" y="4471416"/>
            <a:ext cx="1792224" cy="493776"/>
          </a:xfrm>
          <a:prstGeom prst="roundRect">
            <a:avLst/>
          </a:prstGeom>
          <a:solidFill>
            <a:srgbClr val="1E2F3F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64624" y="4645152"/>
            <a:ext cx="157276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F4F8FB"/>
                </a:solidFill>
                <a:latin typeface="Arial"/>
              </a:defRPr>
            </a:pPr>
            <a:r>
              <a:t>Observability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8" dur="42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1" dur="42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4" dur="4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Cost optimization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" y="1627632"/>
          <a:ext cx="10801806" cy="4315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602"/>
                <a:gridCol w="3600602"/>
                <a:gridCol w="3600602"/>
              </a:tblGrid>
              <a:tr h="566928"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70E17"/>
                          </a:solidFill>
                          <a:latin typeface="Arial"/>
                        </a:defRPr>
                      </a:pPr>
                      <a:r>
                        <a:t>Infrastructure component</a:t>
                      </a:r>
                    </a:p>
                  </a:txBody>
                  <a:tcPr>
                    <a:solidFill>
                      <a:srgbClr val="00F2C3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70E17"/>
                          </a:solidFill>
                          <a:latin typeface="Arial"/>
                        </a:defRPr>
                      </a:pPr>
                      <a:r>
                        <a:t>Primary cost driver</a:t>
                      </a:r>
                    </a:p>
                  </a:txBody>
                  <a:tcPr>
                    <a:solidFill>
                      <a:srgbClr val="00F2C3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70E17"/>
                          </a:solidFill>
                          <a:latin typeface="Arial"/>
                        </a:defRPr>
                      </a:pPr>
                      <a:r>
                        <a:t>Optimization strategy</a:t>
                      </a:r>
                    </a:p>
                  </a:txBody>
                  <a:tcPr>
                    <a:solidFill>
                      <a:srgbClr val="00F2C3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LLM inference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Token volume and model selection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Route simple tasks to smaller models and enforce token budgets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Compute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Always-on application capacity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Autoscale workloads and use queue-driven workers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Vector search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Index size and query volume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Apply lifecycle policies and retrieve only relevant partitions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Storage and observability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Retention of documents and telemetry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Tier cold data and set retention limits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64000">
                <a:srgbClr val="070E17"/>
              </a:gs>
              <a:gs pos="100000">
                <a:srgbClr val="062326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Implementation roadmap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26231" y="3739896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90691" y="3739896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55151" y="3739896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8952" y="2075688"/>
            <a:ext cx="250842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1993392"/>
            <a:ext cx="2508427" cy="3493008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139696"/>
            <a:ext cx="420624" cy="420624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22523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>
                <a:solidFill>
                  <a:srgbClr val="F4F8FB"/>
                </a:solidFill>
                <a:latin typeface="Arial"/>
              </a:defRPr>
            </a:pPr>
            <a:r>
              <a:t>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721608"/>
            <a:ext cx="221581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3411" y="2075688"/>
            <a:ext cx="250842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59403" y="1993392"/>
            <a:ext cx="2508427" cy="349300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05707" y="2139696"/>
            <a:ext cx="420624" cy="420624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570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7419" y="2862072"/>
            <a:ext cx="22523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900" b="1">
                <a:solidFill>
                  <a:srgbClr val="F4F8FB"/>
                </a:solidFill>
                <a:latin typeface="Arial"/>
              </a:defRPr>
            </a:pPr>
            <a:r>
              <a:t>production hardening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5707" y="3721608"/>
            <a:ext cx="221581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7871" y="2075688"/>
            <a:ext cx="250842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23863" y="1993392"/>
            <a:ext cx="2508427" cy="349300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70167" y="2139696"/>
            <a:ext cx="420624" cy="420624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16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1879" y="2862072"/>
            <a:ext cx="22523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900" b="1">
                <a:solidFill>
                  <a:srgbClr val="F4F8FB"/>
                </a:solidFill>
                <a:latin typeface="Arial"/>
              </a:defRPr>
            </a:pPr>
            <a:r>
              <a:t>enterprise rollout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3721608"/>
            <a:ext cx="221581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331" y="2075688"/>
            <a:ext cx="250842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88323" y="1993392"/>
            <a:ext cx="2508427" cy="349300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34627" y="2139696"/>
            <a:ext cx="420624" cy="420624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462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339" y="2862072"/>
            <a:ext cx="22523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900" b="1">
                <a:solidFill>
                  <a:srgbClr val="F4F8FB"/>
                </a:solidFill>
                <a:latin typeface="Arial"/>
              </a:defRPr>
            </a:pPr>
            <a:r>
              <a:t>autonomous-agent phase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627" y="3721608"/>
            <a:ext cx="221581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9" dur="42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2" dur="4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3" dur="42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6" dur="42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7" dur="42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