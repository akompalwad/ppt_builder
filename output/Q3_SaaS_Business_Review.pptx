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actual ($M)</c:v>
                </c:pt>
              </c:strCache>
            </c:strRef>
          </c:tx>
          <c:spPr>
            <a:solidFill>
              <a:srgbClr val="00F2FE"/>
            </a:solidFill>
            <a:ln>
              <a:solidFill>
                <a:srgbClr val="00F2FE"/>
              </a:solidFill>
            </a:ln>
          </c:spPr>
          <c:cat>
            <c:strRef>
              <c:f>Sheet1!$A$2:$A$13</c:f>
              <c:strCache>
                <c:ptCount val="12"/>
                <c:pt idx="0">
                  <c:v>Q4'22</c:v>
                </c:pt>
                <c:pt idx="1">
                  <c:v>Q1'23</c:v>
                </c:pt>
                <c:pt idx="2">
                  <c:v>Q2'23</c:v>
                </c:pt>
                <c:pt idx="3">
                  <c:v>Q3'23</c:v>
                </c:pt>
                <c:pt idx="4">
                  <c:v>Q4'23</c:v>
                </c:pt>
                <c:pt idx="5">
                  <c:v>Q1'24</c:v>
                </c:pt>
                <c:pt idx="6">
                  <c:v>Q2'24</c:v>
                </c:pt>
                <c:pt idx="7">
                  <c:v>Q3'24</c:v>
                </c:pt>
                <c:pt idx="8">
                  <c:v>Q4'24</c:v>
                </c:pt>
                <c:pt idx="9">
                  <c:v>Q1'25</c:v>
                </c:pt>
                <c:pt idx="10">
                  <c:v>Q2'25</c:v>
                </c:pt>
                <c:pt idx="11">
                  <c:v>Q3'25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14.0</c:v>
                </c:pt>
                <c:pt idx="2">
                  <c:v>16.0</c:v>
                </c:pt>
                <c:pt idx="3">
                  <c:v>19.0</c:v>
                </c:pt>
                <c:pt idx="4">
                  <c:v>22.0</c:v>
                </c:pt>
                <c:pt idx="5">
                  <c:v>25.0</c:v>
                </c:pt>
                <c:pt idx="6">
                  <c:v>29.0</c:v>
                </c:pt>
                <c:pt idx="7">
                  <c:v>33.0</c:v>
                </c:pt>
                <c:pt idx="8">
                  <c:v>37.0</c:v>
                </c:pt>
                <c:pt idx="9">
                  <c:v>42.0</c:v>
                </c:pt>
                <c:pt idx="10">
                  <c:v>48.0</c:v>
                </c:pt>
                <c:pt idx="11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ARR forecast ($M)</c:v>
                </c:pt>
              </c:strCache>
            </c:strRef>
          </c:tx>
          <c:spPr>
            <a:solidFill>
              <a:srgbClr val="4FACFE"/>
            </a:solidFill>
            <a:ln>
              <a:solidFill>
                <a:srgbClr val="4FACFE"/>
              </a:solidFill>
            </a:ln>
          </c:spPr>
          <c:cat>
            <c:strRef>
              <c:f>Sheet1!$A$2:$A$13</c:f>
              <c:strCache>
                <c:ptCount val="12"/>
                <c:pt idx="0">
                  <c:v>Q4'22</c:v>
                </c:pt>
                <c:pt idx="1">
                  <c:v>Q1'23</c:v>
                </c:pt>
                <c:pt idx="2">
                  <c:v>Q2'23</c:v>
                </c:pt>
                <c:pt idx="3">
                  <c:v>Q3'23</c:v>
                </c:pt>
                <c:pt idx="4">
                  <c:v>Q4'23</c:v>
                </c:pt>
                <c:pt idx="5">
                  <c:v>Q1'24</c:v>
                </c:pt>
                <c:pt idx="6">
                  <c:v>Q2'24</c:v>
                </c:pt>
                <c:pt idx="7">
                  <c:v>Q3'24</c:v>
                </c:pt>
                <c:pt idx="8">
                  <c:v>Q4'24</c:v>
                </c:pt>
                <c:pt idx="9">
                  <c:v>Q1'25</c:v>
                </c:pt>
                <c:pt idx="10">
                  <c:v>Q2'25</c:v>
                </c:pt>
                <c:pt idx="11">
                  <c:v>Q3'25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13.0</c:v>
                </c:pt>
                <c:pt idx="1">
                  <c:v>15.0</c:v>
                </c:pt>
                <c:pt idx="2">
                  <c:v>17.0</c:v>
                </c:pt>
                <c:pt idx="3">
                  <c:v>20.0</c:v>
                </c:pt>
                <c:pt idx="4">
                  <c:v>23.0</c:v>
                </c:pt>
                <c:pt idx="5">
                  <c:v>27.0</c:v>
                </c:pt>
                <c:pt idx="6">
                  <c:v>31.0</c:v>
                </c:pt>
                <c:pt idx="7">
                  <c:v>35.0</c:v>
                </c:pt>
                <c:pt idx="8">
                  <c:v>39.0</c:v>
                </c:pt>
                <c:pt idx="9">
                  <c:v>44.0</c:v>
                </c:pt>
                <c:pt idx="10">
                  <c:v>50.0</c:v>
                </c:pt>
                <c:pt idx="11">
                  <c:v>57.0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C7D2E5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C7D2E5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C7D2E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CAC ($k)</c:v>
                </c:pt>
              </c:strCache>
            </c:strRef>
          </c:tx>
          <c:spPr>
            <a:solidFill>
              <a:srgbClr val="00F2FE"/>
            </a:solidFill>
            <a:ln>
              <a:solidFill>
                <a:srgbClr val="00F2FE"/>
              </a:solidFill>
            </a:ln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28.0</c:v>
                </c:pt>
                <c:pt idx="1">
                  <c:v>11.0</c:v>
                </c:pt>
                <c:pt idx="2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LTV ($k)</c:v>
                </c:pt>
              </c:strCache>
            </c:strRef>
          </c:tx>
          <c:spPr>
            <a:solidFill>
              <a:srgbClr val="4FACFE"/>
            </a:solidFill>
            <a:ln>
              <a:solidFill>
                <a:srgbClr val="4FACFE"/>
              </a:solidFill>
            </a:ln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220.0</c:v>
                </c:pt>
                <c:pt idx="1">
                  <c:v>72.0</c:v>
                </c:pt>
                <c:pt idx="2">
                  <c:v>18.0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C7D2E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C7D2E5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100">
              <a:solidFill>
                <a:srgbClr val="C7D2E5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 (%)</c:v>
                </c:pt>
              </c:strCache>
            </c:strRef>
          </c:tx>
          <c:spPr>
            <a:solidFill>
              <a:srgbClr val="00F2FE"/>
            </a:solidFill>
            <a:ln>
              <a:solidFill>
                <a:srgbClr val="00F2FE"/>
              </a:solidFill>
            </a:ln>
          </c:spPr>
          <c:cat>
            <c:strRef>
              <c:f>Sheet1!$A$2:$A$5</c:f>
              <c:strCache>
                <c:ptCount val="4"/>
                <c:pt idx="0">
                  <c:v>Core platform subscription</c:v>
                </c:pt>
                <c:pt idx="1">
                  <c:v>Usage-based compute</c:v>
                </c:pt>
                <c:pt idx="2">
                  <c:v>Professional services</c:v>
                </c:pt>
                <c:pt idx="3">
                  <c:v>Marketplace add-ons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58.0</c:v>
                </c:pt>
                <c:pt idx="1">
                  <c:v>24.0</c:v>
                </c:pt>
                <c:pt idx="2">
                  <c:v>11.0</c:v>
                </c:pt>
                <c:pt idx="3">
                  <c:v>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C7D2E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B0F19"/>
              </a:gs>
              <a:gs pos="52000">
                <a:srgbClr val="0B1923"/>
              </a:gs>
              <a:gs pos="100000">
                <a:srgbClr val="0A2D37"/>
              </a:gs>
            </a:gsLst>
            <a:lin ang="189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gradFill rotWithShape="1">
            <a:gsLst>
              <a:gs pos="0">
                <a:srgbClr val="084F59"/>
              </a:gs>
              <a:gs pos="100000">
                <a:srgbClr val="0B151F"/>
              </a:gs>
            </a:gsLst>
            <a:lin ang="18900000" scaled="1"/>
          </a:gradFill>
          <a:xfrm>
            <a:off x="8183879" y="960120"/>
            <a:ext cx="2788920" cy="2788920"/>
          </a:xfrm>
          <a:prstGeom prst="ellipse">
            <a:avLst/>
          </a:prstGeom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FE"/>
                </a:solidFill>
                <a:latin typeface="Arial"/>
              </a:defRPr>
            </a:pPr>
            <a:r>
              <a:t>SLIDEWEAVER /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481328"/>
            <a:ext cx="69951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Aptos Display"/>
              </a:defRPr>
            </a:pPr>
            <a:r>
              <a:t>Q3 SaaS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187952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C7D2E5"/>
                </a:solidFill>
                <a:latin typeface="Arial"/>
              </a:defRPr>
            </a:pPr>
            <a:r>
              <a:t>Financial performance, growth efficiency, and Q4 execution priorities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2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Q3 Financial Summary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4944" y="1938528"/>
            <a:ext cx="73152" cy="3310128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048256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FE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532888"/>
            <a:ext cx="302148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100" b="1">
                <a:solidFill>
                  <a:srgbClr val="4FACFE"/>
                </a:solidFill>
                <a:latin typeface="Aptos Display"/>
              </a:defRPr>
            </a:pPr>
            <a:r>
              <a:t>$55M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255264"/>
            <a:ext cx="302148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Annual recurring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931920"/>
            <a:ext cx="302148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C7D2E5"/>
                </a:solidFill>
                <a:latin typeface="Arial"/>
              </a:defRPr>
            </a:pPr>
            <a:r>
              <a:t>Illustrative 32% year-over-year growth.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1370" y="1938528"/>
            <a:ext cx="73152" cy="3310128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7402" y="2048256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F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402" y="2532888"/>
            <a:ext cx="302148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100" b="1">
                <a:solidFill>
                  <a:srgbClr val="4FACFE"/>
                </a:solidFill>
                <a:latin typeface="Aptos Display"/>
              </a:defRPr>
            </a:pPr>
            <a:r>
              <a:t>118%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402" y="3255264"/>
            <a:ext cx="302148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Net revenue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402" y="3931920"/>
            <a:ext cx="302148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C7D2E5"/>
                </a:solidFill>
                <a:latin typeface="Arial"/>
              </a:defRPr>
            </a:pPr>
            <a:r>
              <a:t>Expansion exceeded contraction across enterprise accounts.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7796" y="1938528"/>
            <a:ext cx="73152" cy="3310128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3828" y="2048256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F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3828" y="2532888"/>
            <a:ext cx="302148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100" b="1">
                <a:solidFill>
                  <a:srgbClr val="4FACFE"/>
                </a:solidFill>
                <a:latin typeface="Aptos Display"/>
              </a:defRPr>
            </a:pPr>
            <a:r>
              <a:t>2.1%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3255264"/>
            <a:ext cx="302148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Gross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3828" y="3931920"/>
            <a:ext cx="302148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C7D2E5"/>
                </a:solidFill>
                <a:latin typeface="Arial"/>
              </a:defRPr>
            </a:pPr>
            <a:r>
              <a:t>Illustrative reduction from 3.4% in the prior quarter.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2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9" dur="42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4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3" dur="4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" dur="4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7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Recurring Revenue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261872"/>
            <a:ext cx="9692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C7D2E5"/>
                </a:solidFill>
                <a:latin typeface="Aptos"/>
              </a:defRPr>
            </a:pPr>
            <a:r>
              <a:t>ARR actuals and plan across the last 12 quarters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23544" y="1856231"/>
          <a:ext cx="105613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CAC and LTV by Customer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261872"/>
            <a:ext cx="9692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C7D2E5"/>
                </a:solidFill>
                <a:latin typeface="Aptos"/>
              </a:defRPr>
            </a:pPr>
            <a:r>
              <a:t>Illustrative customer economics, replace with finance-approved values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23544" y="1856231"/>
          <a:ext cx="105613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  <p:transition spd="med" advClick="1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Revenue Mix by Product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261872"/>
            <a:ext cx="9692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C7D2E5"/>
                </a:solidFill>
                <a:latin typeface="Aptos"/>
              </a:defRPr>
            </a:pPr>
            <a:r>
              <a:t>Illustrative revenue distribution, replace with finance-approved values</a:t>
            </a:r>
          </a:p>
        </p:txBody>
      </p:sp>
      <p:sp>
        <p:nvSpPr>
          <p:cNvPr id="5" name="Oval 4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23544" y="1856231"/>
          <a:ext cx="105613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GTM Efficiency and Pipeline Velocity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2057400"/>
            <a:ext cx="2467279" cy="3127248"/>
          </a:xfrm>
          <a:prstGeom prst="roundRect">
            <a:avLst/>
          </a:prstGeom>
          <a:solidFill>
            <a:srgbClr val="1C2335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Inbound lead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0">
                <a:solidFill>
                  <a:srgbClr val="C7D2E5"/>
                </a:solidFill>
                <a:latin typeface="Arial"/>
              </a:defRPr>
            </a:pPr>
            <a:r>
              <a:t>Route product, content, and partner demand into one scored intake.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98799" y="3474720"/>
            <a:ext cx="237744" cy="292608"/>
          </a:xfrm>
          <a:prstGeom prst="rightArrow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7127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3119" y="2057400"/>
            <a:ext cx="2467279" cy="3127248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3119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0863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0863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7711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Qualification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4287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0">
                <a:solidFill>
                  <a:srgbClr val="C7D2E5"/>
                </a:solidFill>
                <a:latin typeface="Arial"/>
              </a:defRPr>
            </a:pPr>
            <a:r>
              <a:t>Apply fit, intent, and buying-committee signals before sales engagement.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76975" y="3474720"/>
            <a:ext cx="237744" cy="292608"/>
          </a:xfrm>
          <a:prstGeom prst="rightArrow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15303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1295" y="2057400"/>
            <a:ext cx="2467279" cy="3127248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1295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9039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9039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Enterprise acceleration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0">
                <a:solidFill>
                  <a:srgbClr val="C7D2E5"/>
                </a:solidFill>
                <a:latin typeface="Arial"/>
              </a:defRPr>
            </a:pPr>
            <a:r>
              <a:t>Align solution engineering, security review, and executive sponsorship.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55151" y="3474720"/>
            <a:ext cx="237744" cy="292608"/>
          </a:xfrm>
          <a:prstGeom prst="rightArrow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93479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29471" y="2057400"/>
            <a:ext cx="2467279" cy="3127248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29471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67215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7215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4063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Closed-won onboarding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0639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0">
                <a:solidFill>
                  <a:srgbClr val="C7D2E5"/>
                </a:solidFill>
                <a:latin typeface="Arial"/>
              </a:defRPr>
            </a:pPr>
            <a:r>
              <a:t>Activate champions, usage milestones, and expansion plans from day one.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9" dur="4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2" dur="4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3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6" dur="42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7" dur="42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Product-Led Growth Adoption Matrix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2020824"/>
            <a:ext cx="10808208" cy="85953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1938528"/>
            <a:ext cx="10808208" cy="859536"/>
          </a:xfrm>
          <a:prstGeom prst="roundRect">
            <a:avLst/>
          </a:prstGeom>
          <a:solidFill>
            <a:srgbClr val="1C2335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31136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FE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12140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Free-tier activation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4104" y="2148840"/>
            <a:ext cx="5468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C7D2E5"/>
                </a:solidFill>
                <a:latin typeface="Arial"/>
              </a:defRPr>
            </a:pPr>
            <a:r>
              <a:t>First workspace created, data connected, and primary workflow completed.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3136391"/>
            <a:ext cx="10808208" cy="85953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" y="3054096"/>
            <a:ext cx="10808208" cy="859536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46703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F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323697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Feature 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3264408"/>
            <a:ext cx="5468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C7D2E5"/>
                </a:solidFill>
                <a:latin typeface="Arial"/>
              </a:defRPr>
            </a:pPr>
            <a:r>
              <a:t>Teams cross usage thresholds in collaboration, automation, and analytics.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251960"/>
            <a:ext cx="10808208" cy="85953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" y="4169664"/>
            <a:ext cx="10808208" cy="859536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462272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F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435254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Enterprise conversion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4" y="4379976"/>
            <a:ext cx="5468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C7D2E5"/>
                </a:solidFill>
                <a:latin typeface="Arial"/>
              </a:defRPr>
            </a:pPr>
            <a:r>
              <a:t>Security, governance, and scale requirements trigger account expansion.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2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9" dur="42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4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3" dur="4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" dur="4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7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Customer Success Health Score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1627632"/>
          <a:ext cx="10801806" cy="4315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190"/>
                <a:gridCol w="1841217"/>
                <a:gridCol w="1841217"/>
                <a:gridCol w="3805182"/>
              </a:tblGrid>
              <a:tr h="566928"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B0F19"/>
                          </a:solidFill>
                          <a:latin typeface="Aptos"/>
                        </a:defRPr>
                      </a:pPr>
                      <a:r>
                        <a:t>Health index</a:t>
                      </a:r>
                    </a:p>
                  </a:txBody>
                  <a:tcPr>
                    <a:solidFill>
                      <a:srgbClr val="00F2FE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B0F19"/>
                          </a:solidFill>
                          <a:latin typeface="Aptos"/>
                        </a:defRPr>
                      </a:pPr>
                      <a:r>
                        <a:t>Account profile</a:t>
                      </a:r>
                    </a:p>
                  </a:txBody>
                  <a:tcPr>
                    <a:solidFill>
                      <a:srgbClr val="00F2FE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B0F19"/>
                          </a:solidFill>
                          <a:latin typeface="Aptos"/>
                        </a:defRPr>
                      </a:pPr>
                      <a:r>
                        <a:t>Expansion potential</a:t>
                      </a:r>
                    </a:p>
                  </a:txBody>
                  <a:tcPr>
                    <a:solidFill>
                      <a:srgbClr val="00F2FE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B0F19"/>
                          </a:solidFill>
                          <a:latin typeface="Aptos"/>
                        </a:defRPr>
                      </a:pPr>
                      <a:r>
                        <a:t>Churn risk probability</a:t>
                      </a:r>
                    </a:p>
                  </a:txBody>
                  <a:tcPr>
                    <a:solidFill>
                      <a:srgbClr val="00F2FE"/>
                    </a:solidFill>
                  </a:tcPr>
                </a:tc>
              </a:tr>
              <a:tr h="124967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80–100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Healthy adoption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High: multi-team rollout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Low: &lt;5%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</a:tr>
              <a:tr h="124967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60–79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Stable with gaps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Medium: targeted enablement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Moderate: 5–15%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  <a:tr h="124967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0–59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At risk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Low until recovery plan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High: &gt;15%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Q4 Execution Roadmap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2057400"/>
            <a:ext cx="2467279" cy="3127248"/>
          </a:xfrm>
          <a:prstGeom prst="roundRect">
            <a:avLst/>
          </a:prstGeom>
          <a:solidFill>
            <a:srgbClr val="1C2335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Enterprise product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0">
                <a:solidFill>
                  <a:srgbClr val="C7D2E5"/>
                </a:solidFill>
                <a:latin typeface="Arial"/>
              </a:defRPr>
            </a:pPr>
            <a:r>
              <a:t>Release governance, analytics, and admin controls for larger deployments.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98799" y="3474720"/>
            <a:ext cx="237744" cy="292608"/>
          </a:xfrm>
          <a:prstGeom prst="rightArrow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7127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3119" y="2057400"/>
            <a:ext cx="2467279" cy="3127248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3119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0863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0863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7711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International GTM scaling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4287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0">
                <a:solidFill>
                  <a:srgbClr val="C7D2E5"/>
                </a:solidFill>
                <a:latin typeface="Arial"/>
              </a:defRPr>
            </a:pPr>
            <a:r>
              <a:t>Localize priority markets and strengthen regional partner coverage.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76975" y="3474720"/>
            <a:ext cx="237744" cy="292608"/>
          </a:xfrm>
          <a:prstGeom prst="rightArrow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15303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1295" y="2057400"/>
            <a:ext cx="2467279" cy="3127248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1295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9039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9039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Security and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0">
                <a:solidFill>
                  <a:srgbClr val="C7D2E5"/>
                </a:solidFill>
                <a:latin typeface="Arial"/>
              </a:defRPr>
            </a:pPr>
            <a:r>
              <a:t>Complete priority controls and evidence for enterprise procurement.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55151" y="3474720"/>
            <a:ext cx="237744" cy="292608"/>
          </a:xfrm>
          <a:prstGeom prst="rightArrow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93479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29471" y="2057400"/>
            <a:ext cx="2467279" cy="3127248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29471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67215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7215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4063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Customer success automation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0639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0">
                <a:solidFill>
                  <a:srgbClr val="C7D2E5"/>
                </a:solidFill>
                <a:latin typeface="Arial"/>
              </a:defRPr>
            </a:pPr>
            <a:r>
              <a:t>Automate risk signals, outreach, and expansion playbooks.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9" dur="4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2" dur="4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3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6" dur="42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7" dur="42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