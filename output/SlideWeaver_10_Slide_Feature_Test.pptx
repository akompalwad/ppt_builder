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F2FE"/>
            </a:solidFill>
            <a:ln>
              <a:solidFill>
                <a:srgbClr val="00F2FE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18.0</c:v>
                </c:pt>
                <c:pt idx="1">
                  <c:v>21.0</c:v>
                </c:pt>
                <c:pt idx="2">
                  <c:v>24.0</c:v>
                </c:pt>
                <c:pt idx="3">
                  <c:v>28.0</c:v>
                </c:pt>
                <c:pt idx="4">
                  <c:v>31.0</c:v>
                </c:pt>
                <c:pt idx="5">
                  <c:v>35.0</c:v>
                </c:pt>
                <c:pt idx="6">
                  <c:v>37.0</c:v>
                </c:pt>
                <c:pt idx="7">
                  <c:v>42.0</c:v>
                </c:pt>
                <c:pt idx="8">
                  <c:v>46.0</c:v>
                </c:pt>
                <c:pt idx="9">
                  <c:v>49.0</c:v>
                </c:pt>
                <c:pt idx="10">
                  <c:v>54.0</c:v>
                </c:pt>
                <c:pt idx="11">
                  <c:v>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4FACFE"/>
            </a:solidFill>
            <a:ln>
              <a:solidFill>
                <a:srgbClr val="4FACFE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20.0</c:v>
                </c:pt>
                <c:pt idx="1">
                  <c:v>22.0</c:v>
                </c:pt>
                <c:pt idx="2">
                  <c:v>25.0</c:v>
                </c:pt>
                <c:pt idx="3">
                  <c:v>27.0</c:v>
                </c:pt>
                <c:pt idx="4">
                  <c:v>30.0</c:v>
                </c:pt>
                <c:pt idx="5">
                  <c:v>34.0</c:v>
                </c:pt>
                <c:pt idx="6">
                  <c:v>39.0</c:v>
                </c:pt>
                <c:pt idx="7">
                  <c:v>41.0</c:v>
                </c:pt>
                <c:pt idx="8">
                  <c:v>44.0</c:v>
                </c:pt>
                <c:pt idx="9">
                  <c:v>50.0</c:v>
                </c:pt>
                <c:pt idx="10">
                  <c:v>55.0</c:v>
                </c:pt>
                <c:pt idx="11">
                  <c:v>61.0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7D2E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7D2E5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C7D2E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New ARR</c:v>
                </c:pt>
              </c:strCache>
            </c:strRef>
          </c:tx>
          <c:spPr>
            <a:solidFill>
              <a:srgbClr val="00F2FE"/>
            </a:solidFill>
            <a:ln>
              <a:solidFill>
                <a:srgbClr val="00F2FE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42.0</c:v>
                </c:pt>
                <c:pt idx="1">
                  <c:v>24.0</c:v>
                </c:pt>
                <c:pt idx="2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Expansion ARR</c:v>
                </c:pt>
              </c:strCache>
            </c:strRef>
          </c:tx>
          <c:spPr>
            <a:solidFill>
              <a:srgbClr val="4FACFE"/>
            </a:solidFill>
            <a:ln>
              <a:solidFill>
                <a:srgbClr val="4FACFE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20.0</c:v>
                </c:pt>
                <c:pt idx="1">
                  <c:v>14.0</c:v>
                </c:pt>
                <c:pt idx="2">
                  <c:v>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Renewal ARR</c:v>
                </c:pt>
              </c:strCache>
            </c:strRef>
          </c:tx>
          <c:spPr>
            <a:solidFill>
              <a:srgbClr val="4FACFE"/>
            </a:solidFill>
            <a:ln>
              <a:solidFill>
                <a:srgbClr val="4FACFE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55.0</c:v>
                </c:pt>
                <c:pt idx="1">
                  <c:v>31.0</c:v>
                </c:pt>
                <c:pt idx="2">
                  <c:v>18.0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7D2E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7D2E5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100">
              <a:solidFill>
                <a:srgbClr val="C7D2E5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rgbClr val="00F2FE"/>
            </a:solidFill>
            <a:ln>
              <a:solidFill>
                <a:srgbClr val="00F2FE"/>
              </a:solidFill>
            </a:ln>
          </c:spPr>
          <c:cat>
            <c:strRef>
              <c:f>Sheet1!$A$2:$A$5</c:f>
              <c:strCache>
                <c:ptCount val="4"/>
                <c:pt idx="0">
                  <c:v>Platform</c:v>
                </c:pt>
                <c:pt idx="1">
                  <c:v>Usage</c:v>
                </c:pt>
                <c:pt idx="2">
                  <c:v>Services</c:v>
                </c:pt>
                <c:pt idx="3">
                  <c:v>Add-ons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52.0</c:v>
                </c:pt>
                <c:pt idx="1">
                  <c:v>27.0</c:v>
                </c:pt>
                <c:pt idx="2">
                  <c:v>13.0</c:v>
                </c:pt>
                <c:pt idx="3">
                  <c:v>8.0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C7D2E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0B0F19"/>
              </a:gs>
              <a:gs pos="52000">
                <a:srgbClr val="0B1923"/>
              </a:gs>
              <a:gs pos="100000">
                <a:srgbClr val="0A2D37"/>
              </a:gs>
            </a:gsLst>
            <a:lin ang="18900000" scaled="1"/>
          </a:gradFill>
          <a:xfrm>
            <a:off x="0" y="0"/>
            <a:ext cx="12191695" cy="6858000"/>
          </a:xfrm>
          <a:prstGeom prst="rect">
            <a:avLst/>
          </a:prstGeom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gradFill rotWithShape="1">
            <a:gsLst>
              <a:gs pos="0">
                <a:srgbClr val="084F59"/>
              </a:gs>
              <a:gs pos="100000">
                <a:srgbClr val="0B151F"/>
              </a:gs>
            </a:gsLst>
            <a:lin ang="18900000" scaled="1"/>
          </a:gradFill>
          <a:xfrm>
            <a:off x="8183879" y="960120"/>
            <a:ext cx="2788920" cy="2788920"/>
          </a:xfrm>
          <a:prstGeom prst="ellipse">
            <a:avLst/>
          </a:prstGeom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SLIDEWEAVER /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81328"/>
            <a:ext cx="6995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Arial"/>
              </a:defRPr>
            </a:pPr>
            <a:r>
              <a:t>SlideWeaver Feature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18795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0">
                <a:solidFill>
                  <a:srgbClr val="C7D2E5"/>
                </a:solidFill>
                <a:latin typeface="Arial"/>
              </a:defRPr>
            </a:pPr>
            <a:r>
              <a:t>Native editable objects · Dark indigo test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Metric Callouts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" y="1938528"/>
            <a:ext cx="73152" cy="3310128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048256"/>
            <a:ext cx="2293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532888"/>
            <a:ext cx="220210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A78BFA"/>
                </a:solidFill>
                <a:latin typeface="Arial"/>
              </a:defRPr>
            </a:pPr>
            <a:r>
              <a:t>42%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255264"/>
            <a:ext cx="220210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93192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7D2E5"/>
                </a:solidFill>
                <a:latin typeface="Arial"/>
              </a:defRPr>
            </a:pPr>
            <a:r>
              <a:t>Multi-line supporting copy remains within its metric lane.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687" y="1938528"/>
            <a:ext cx="73152" cy="3310128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1719" y="2048256"/>
            <a:ext cx="2293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1719" y="2532888"/>
            <a:ext cx="220210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A78BFA"/>
                </a:solidFill>
                <a:latin typeface="Arial"/>
              </a:defRPr>
            </a:pPr>
            <a:r>
              <a:t>99.95%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1719" y="3255264"/>
            <a:ext cx="220210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Service 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1719" y="393192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7D2E5"/>
                </a:solidFill>
                <a:latin typeface="Arial"/>
              </a:defRPr>
            </a:pPr>
            <a:r>
              <a:t>Tests a long numeric value with a descriptive label.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1938528"/>
            <a:ext cx="73152" cy="3310128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2463" y="2048256"/>
            <a:ext cx="2293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2463" y="2532888"/>
            <a:ext cx="220210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A78BFA"/>
                </a:solidFill>
                <a:latin typeface="Arial"/>
              </a:defRPr>
            </a:pPr>
            <a:r>
              <a:t>$1.8M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3" y="3255264"/>
            <a:ext cx="220210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Annual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393192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7D2E5"/>
                </a:solidFill>
                <a:latin typeface="Arial"/>
              </a:defRPr>
            </a:pPr>
            <a:r>
              <a:t>Tests currency formatting and supporting copy.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7175" y="1938528"/>
            <a:ext cx="73152" cy="3310128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3207" y="2048256"/>
            <a:ext cx="22935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F2FE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3207" y="2532888"/>
            <a:ext cx="220210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A78BFA"/>
                </a:solidFill>
                <a:latin typeface="Arial"/>
              </a:defRPr>
            </a:pPr>
            <a:r>
              <a:t>7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3207" y="3255264"/>
            <a:ext cx="2202103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Cycle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207" y="3931920"/>
            <a:ext cx="2202103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7D2E5"/>
                </a:solidFill>
                <a:latin typeface="Arial"/>
              </a:defRPr>
            </a:pPr>
            <a:r>
              <a:t>Tests a non-percentage performance metric.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9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4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3" dur="420" fill="hold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7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Line Chart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23544" y="1856231"/>
          <a:ext cx="105613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Stacked Bar Chart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23544" y="1856231"/>
          <a:ext cx="105613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Doughnut Chart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23544" y="1856231"/>
          <a:ext cx="1056132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Horizontal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2057400"/>
            <a:ext cx="2467279" cy="3127248"/>
          </a:xfrm>
          <a:prstGeom prst="roundRect">
            <a:avLst/>
          </a:prstGeom>
          <a:solidFill>
            <a:srgbClr val="1C2335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C7D2E5"/>
                </a:solidFill>
                <a:latin typeface="Arial"/>
              </a:defRPr>
            </a:pPr>
            <a:r>
              <a:t>Accept source events and normalize the incoming payload.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98799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7127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3119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3119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0863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0863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7711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287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C7D2E5"/>
                </a:solidFill>
                <a:latin typeface="Arial"/>
              </a:defRPr>
            </a:pPr>
            <a:r>
              <a:t>Check completeness, permissions, and input quality.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6975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15303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1295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9039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9039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C7D2E5"/>
                </a:solidFill>
                <a:latin typeface="Arial"/>
              </a:defRPr>
            </a:pPr>
            <a:r>
              <a:t>Apply business rules and route eligible work.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55151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3479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29471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9471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67215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215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4063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0639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C7D2E5"/>
                </a:solidFill>
                <a:latin typeface="Arial"/>
              </a:defRPr>
            </a:pPr>
            <a:r>
              <a:t>Record the outcome and return a clear status.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Architecture Layers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856231" y="4215384"/>
            <a:ext cx="8458200" cy="1225296"/>
          </a:xfrm>
          <a:prstGeom prst="parallelogram">
            <a:avLst/>
          </a:prstGeom>
          <a:solidFill>
            <a:srgbClr val="202739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95144" y="4379976"/>
            <a:ext cx="758037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Foundation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4782312"/>
            <a:ext cx="732434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0">
                <a:solidFill>
                  <a:srgbClr val="C7D2E5"/>
                </a:solidFill>
                <a:latin typeface="Arial"/>
              </a:defRPr>
            </a:pPr>
            <a:r>
              <a:t>Cloud network, identity, storage, observability, and backups.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2130551" y="2898648"/>
            <a:ext cx="7909560" cy="1225296"/>
          </a:xfrm>
          <a:prstGeom prst="parallelogram">
            <a:avLst/>
          </a:prstGeom>
          <a:solidFill>
            <a:srgbClr val="252C3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3" y="3063240"/>
            <a:ext cx="7031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3465576"/>
            <a:ext cx="677570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0">
                <a:solidFill>
                  <a:srgbClr val="C7D2E5"/>
                </a:solidFill>
                <a:latin typeface="Arial"/>
              </a:defRPr>
            </a:pPr>
            <a:r>
              <a:t>APIs, orchestration services, policy enforcement, and analytics.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2404872" y="1581911"/>
            <a:ext cx="7360920" cy="1225296"/>
          </a:xfrm>
          <a:prstGeom prst="parallelogram">
            <a:avLst/>
          </a:prstGeom>
          <a:solidFill>
            <a:srgbClr val="2A3143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3784" y="1746503"/>
            <a:ext cx="64830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Experience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148839"/>
            <a:ext cx="622706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0">
                <a:solidFill>
                  <a:srgbClr val="C7D2E5"/>
                </a:solidFill>
                <a:latin typeface="Arial"/>
              </a:defRPr>
            </a:pPr>
            <a:r>
              <a:t>Users, embedded workflows, and administrative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8" dur="42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  <p:animEffect transition="in" filter="wipe(up)">
                                <p:cBhvr>
                                  <p:cTn id="9" dur="42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2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Effect transition="in" filter="wipe(up)">
                                <p:cBhvr>
                                  <p:cTn id="13" dur="4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up)">
                                <p:cBhvr>
                                  <p:cTn id="16" dur="42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animEffect transition="in" filter="wipe(up)">
                                <p:cBhvr>
                                  <p:cTn id="17" dur="42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Two-by-Two Capability Grid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020824"/>
            <a:ext cx="5291175" cy="200253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1938528"/>
            <a:ext cx="5291175" cy="2002536"/>
          </a:xfrm>
          <a:prstGeom prst="roundRect">
            <a:avLst/>
          </a:prstGeom>
          <a:solidFill>
            <a:srgbClr val="1C2335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139696"/>
            <a:ext cx="347472" cy="347472"/>
          </a:xfrm>
          <a:prstGeom prst="round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037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485226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Short heading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4852263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C7D2E5"/>
                </a:solidFill>
                <a:latin typeface="Arial"/>
              </a:defRPr>
            </a:pPr>
            <a:r>
              <a:t>One concise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9583" y="2020824"/>
            <a:ext cx="5291175" cy="200253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5575" y="1938528"/>
            <a:ext cx="5291175" cy="2002536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6743" y="2139696"/>
            <a:ext cx="347472" cy="347472"/>
          </a:xfrm>
          <a:prstGeom prst="round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6743" y="2203704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031" y="2615184"/>
            <a:ext cx="485226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Medium-length heading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1" y="3621024"/>
            <a:ext cx="4852263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C7D2E5"/>
                </a:solidFill>
                <a:latin typeface="Arial"/>
              </a:defRPr>
            </a:pPr>
            <a:r>
              <a:t>A deliberately longer description checks line wrapping within the card.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4242816"/>
            <a:ext cx="5291175" cy="200253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4160520"/>
            <a:ext cx="5291175" cy="2002536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4361688"/>
            <a:ext cx="347472" cy="347472"/>
          </a:xfrm>
          <a:prstGeom prst="round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2569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37176"/>
            <a:ext cx="4852263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rial"/>
              </a:defRPr>
            </a:pPr>
            <a:r>
              <a:t>Long capability heading for fit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43016"/>
            <a:ext cx="4852263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C7D2E5"/>
                </a:solidFill>
                <a:latin typeface="Arial"/>
              </a:defRPr>
            </a:pPr>
            <a:r>
              <a:t>This description ensures that a longer label and multi-line body remain contained inside its visual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9583" y="4242816"/>
            <a:ext cx="5291175" cy="2002536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5575" y="4160520"/>
            <a:ext cx="5291175" cy="2002536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6743" y="4361688"/>
            <a:ext cx="347472" cy="347472"/>
          </a:xfrm>
          <a:prstGeom prst="round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6743" y="4425696"/>
            <a:ext cx="3474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031" y="4837176"/>
            <a:ext cx="485226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Numeric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5031" y="5458968"/>
            <a:ext cx="4852263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C7D2E5"/>
                </a:solidFill>
                <a:latin typeface="Arial"/>
              </a:defRPr>
            </a:pPr>
            <a:r>
              <a:t>Tests a compact label with a practical explanatory sentence.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2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9" dur="4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2" dur="420" fill="hold"/>
                                  <p:tgtEl>
                                    <p:spTgt spid="15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3" dur="420" fill="hold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6" dur="420" fill="hold"/>
                                  <p:tgtEl>
                                    <p:spTgt spid="21"/>
                                  </p:tgtEl>
                                </p:cBhvr>
                              </p:animEffect>
                              <p:animEffect transition="in" filter="fade">
                                <p:cBhvr>
                                  <p:cTn id="17" dur="420" fill="hold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Native Editable Table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1627632"/>
          <a:ext cx="10801806" cy="431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190"/>
                <a:gridCol w="1841217"/>
                <a:gridCol w="1841217"/>
                <a:gridCol w="3805182"/>
              </a:tblGrid>
              <a:tr h="566928"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B0F19"/>
                          </a:solidFill>
                          <a:latin typeface="Arial"/>
                        </a:defRPr>
                      </a:pPr>
                      <a:r>
                        <a:t>Test area</a:t>
                      </a:r>
                    </a:p>
                  </a:txBody>
                  <a:tcPr>
                    <a:solidFill>
                      <a:srgbClr val="00F2FE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B0F19"/>
                          </a:solidFill>
                          <a:latin typeface="Arial"/>
                        </a:defRPr>
                      </a:pPr>
                      <a:r>
                        <a:t>Object type</a:t>
                      </a:r>
                    </a:p>
                  </a:txBody>
                  <a:tcPr>
                    <a:solidFill>
                      <a:srgbClr val="00F2FE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B0F19"/>
                          </a:solidFill>
                          <a:latin typeface="Arial"/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0F2FE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300" b="1">
                          <a:solidFill>
                            <a:srgbClr val="0B0F19"/>
                          </a:solidFill>
                          <a:latin typeface="Arial"/>
                        </a:defRPr>
                      </a:pPr>
                      <a:r>
                        <a:t>Verification</a:t>
                      </a:r>
                    </a:p>
                  </a:txBody>
                  <a:tcPr>
                    <a:solidFill>
                      <a:srgbClr val="00F2FE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Charts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Native PowerPoint charts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Series can be edited in PowerPoint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Diagrams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Shapes and connectors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All nodes remain selectable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Tables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Native table cells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Text wraps without clipping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92032"/>
                    </a:solidFill>
                  </a:tcPr>
                </a:tc>
              </a:tr>
              <a:tr h="937259"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Animations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Entrance effects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1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Reveal groups appear in slide timing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 wrap="square" lIns="45720" rIns="45720" anchor="ctr"/>
                    <a:lstStyle/>
                    <a:p>
                      <a:pPr algn="l">
                        <a:defRPr sz="12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393192"/>
            <a:ext cx="905256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Execution Roadmap</a:t>
            </a:r>
          </a:p>
        </p:txBody>
      </p:sp>
      <p:sp>
        <p:nvSpPr>
          <p:cNvPr id="4" name="Oval 3"/>
          <p:cNvSpPr/>
          <p:nvPr/>
        </p:nvSpPr>
        <p:spPr>
          <a:xfrm>
            <a:off x="10314432" y="475488"/>
            <a:ext cx="438912" cy="438912"/>
          </a:xfrm>
          <a:prstGeom prst="ellipse">
            <a:avLst/>
          </a:prstGeom>
          <a:solidFill>
            <a:srgbClr val="00ACB8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944" y="2057400"/>
            <a:ext cx="2467279" cy="3127248"/>
          </a:xfrm>
          <a:prstGeom prst="roundRect">
            <a:avLst/>
          </a:prstGeom>
          <a:solidFill>
            <a:srgbClr val="1C2335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C7D2E5"/>
                </a:solidFill>
                <a:latin typeface="Arial"/>
              </a:defRPr>
            </a:pPr>
            <a:r>
              <a:t>Confirm test data and review the output requirements.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98799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7127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3119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3119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0863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0863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7711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287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C7D2E5"/>
                </a:solidFill>
                <a:latin typeface="Arial"/>
              </a:defRPr>
            </a:pPr>
            <a:r>
              <a:t>Create the editable PowerPoint deck.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76975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15303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1295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9039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9039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5887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C7D2E5"/>
                </a:solidFill>
                <a:latin typeface="Arial"/>
              </a:defRPr>
            </a:pPr>
            <a:r>
              <a:t>Open the deck and validate each native object.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55151" y="3474720"/>
            <a:ext cx="237744" cy="292608"/>
          </a:xfrm>
          <a:prstGeom prst="rightArrow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3479" y="2139696"/>
            <a:ext cx="2467279" cy="3127248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29471" y="2057400"/>
            <a:ext cx="2467279" cy="3127248"/>
          </a:xfrm>
          <a:prstGeom prst="roundRect">
            <a:avLst/>
          </a:prstGeom>
          <a:solidFill>
            <a:srgbClr val="141B2D"/>
          </a:solidFill>
          <a:ln>
            <a:solidFill>
              <a:srgbClr val="00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9471" y="2057400"/>
            <a:ext cx="2467279" cy="91440"/>
          </a:xfrm>
          <a:prstGeom prst="rect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67215" y="2313432"/>
            <a:ext cx="420624" cy="420624"/>
          </a:xfrm>
          <a:prstGeom prst="ellipse">
            <a:avLst/>
          </a:prstGeom>
          <a:solidFill>
            <a:srgbClr val="00F2FE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67215" y="2441448"/>
            <a:ext cx="42062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B0F1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4063" y="2990088"/>
            <a:ext cx="2138095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0639" y="3904487"/>
            <a:ext cx="2064943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0">
                <a:solidFill>
                  <a:srgbClr val="C7D2E5"/>
                </a:solidFill>
                <a:latin typeface="Arial"/>
              </a:defRPr>
            </a:pPr>
            <a:r>
              <a:t>Record findings and prioritize any renderer fixes.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32764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100" b="1">
                <a:solidFill>
                  <a:srgbClr val="8EA2BF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5" dur="42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8" dur="42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9" dur="42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2" dur="420" fill="hold"/>
                                  <p:tgtEl>
                                    <p:spTgt spid="18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3" dur="420" fill="hold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animEffect transition="in" filter="wipe(left)">
                                <p:cBhvr>
                                  <p:cTn id="16" dur="420" fill="hold"/>
                                  <p:tgtEl>
                                    <p:spTgt spid="26"/>
                                  </p:tgtEl>
                                </p:cBhvr>
                              </p:animEffect>
                              <p:animEffect transition="in" filter="wipe(left)">
                                <p:cBhvr>
                                  <p:cTn id="17" dur="420" fill="hold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